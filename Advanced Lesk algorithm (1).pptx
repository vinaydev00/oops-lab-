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104" y="2297684"/>
            <a:ext cx="11200130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4588" rIns="0" bIns="0" rtlCol="0" vert="horz">
            <a:spAutoFit/>
          </a:bodyPr>
          <a:lstStyle/>
          <a:p>
            <a:pPr marL="260731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Advanced</a:t>
            </a:r>
            <a:r>
              <a:rPr dirty="0" sz="4800" spc="-45"/>
              <a:t> </a:t>
            </a:r>
            <a:r>
              <a:rPr dirty="0" sz="4800"/>
              <a:t>Lesk</a:t>
            </a:r>
            <a:r>
              <a:rPr dirty="0" sz="4800" spc="5"/>
              <a:t> </a:t>
            </a:r>
            <a:r>
              <a:rPr dirty="0" sz="4800" spc="-10"/>
              <a:t>algorithm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125"/>
              <a:t> </a:t>
            </a:r>
            <a:r>
              <a:rPr dirty="0" b="1">
                <a:latin typeface="Times New Roman"/>
                <a:cs typeface="Times New Roman"/>
              </a:rPr>
              <a:t>Advanced</a:t>
            </a:r>
            <a:r>
              <a:rPr dirty="0" spc="1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Lesk</a:t>
            </a:r>
            <a:r>
              <a:rPr dirty="0" spc="1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Algorithm</a:t>
            </a:r>
            <a:r>
              <a:rPr dirty="0" spc="125" b="1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dirty="0" spc="120"/>
              <a:t> </a:t>
            </a:r>
            <a:r>
              <a:rPr dirty="0"/>
              <a:t>an</a:t>
            </a:r>
            <a:r>
              <a:rPr dirty="0" spc="125"/>
              <a:t> </a:t>
            </a:r>
            <a:r>
              <a:rPr dirty="0"/>
              <a:t>enhancement</a:t>
            </a:r>
            <a:r>
              <a:rPr dirty="0" spc="135"/>
              <a:t> </a:t>
            </a:r>
            <a:r>
              <a:rPr dirty="0"/>
              <a:t>of</a:t>
            </a:r>
            <a:r>
              <a:rPr dirty="0" spc="120"/>
              <a:t> </a:t>
            </a:r>
            <a:r>
              <a:rPr dirty="0"/>
              <a:t>the</a:t>
            </a:r>
            <a:r>
              <a:rPr dirty="0" spc="120"/>
              <a:t> </a:t>
            </a:r>
            <a:r>
              <a:rPr dirty="0"/>
              <a:t>original</a:t>
            </a:r>
            <a:r>
              <a:rPr dirty="0" spc="130"/>
              <a:t> </a:t>
            </a:r>
            <a:r>
              <a:rPr dirty="0"/>
              <a:t>Lesk</a:t>
            </a:r>
            <a:r>
              <a:rPr dirty="0" spc="125"/>
              <a:t> </a:t>
            </a:r>
            <a:r>
              <a:rPr dirty="0"/>
              <a:t>algorithm,</a:t>
            </a:r>
            <a:r>
              <a:rPr dirty="0" spc="130"/>
              <a:t> </a:t>
            </a:r>
            <a:r>
              <a:rPr dirty="0" spc="-10"/>
              <a:t>which </a:t>
            </a:r>
            <a:r>
              <a:rPr dirty="0"/>
              <a:t>improves</a:t>
            </a:r>
            <a:r>
              <a:rPr dirty="0" spc="45"/>
              <a:t> </a:t>
            </a:r>
            <a:r>
              <a:rPr dirty="0"/>
              <a:t>its</a:t>
            </a:r>
            <a:r>
              <a:rPr dirty="0" spc="35"/>
              <a:t> </a:t>
            </a:r>
            <a:r>
              <a:rPr dirty="0"/>
              <a:t>performance</a:t>
            </a:r>
            <a:r>
              <a:rPr dirty="0" spc="40"/>
              <a:t> </a:t>
            </a:r>
            <a:r>
              <a:rPr dirty="0"/>
              <a:t>by</a:t>
            </a:r>
            <a:r>
              <a:rPr dirty="0" spc="45"/>
              <a:t> </a:t>
            </a:r>
            <a:r>
              <a:rPr dirty="0"/>
              <a:t>addressing</a:t>
            </a:r>
            <a:r>
              <a:rPr dirty="0" spc="40"/>
              <a:t> </a:t>
            </a:r>
            <a:r>
              <a:rPr dirty="0"/>
              <a:t>some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its</a:t>
            </a:r>
            <a:r>
              <a:rPr dirty="0" spc="50"/>
              <a:t> </a:t>
            </a:r>
            <a:r>
              <a:rPr dirty="0"/>
              <a:t>key</a:t>
            </a:r>
            <a:r>
              <a:rPr dirty="0" spc="25"/>
              <a:t> </a:t>
            </a:r>
            <a:r>
              <a:rPr dirty="0"/>
              <a:t>limitations,</a:t>
            </a:r>
            <a:r>
              <a:rPr dirty="0" spc="45"/>
              <a:t> </a:t>
            </a:r>
            <a:r>
              <a:rPr dirty="0"/>
              <a:t>such</a:t>
            </a:r>
            <a:r>
              <a:rPr dirty="0" spc="20"/>
              <a:t> </a:t>
            </a:r>
            <a:r>
              <a:rPr dirty="0"/>
              <a:t>as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/>
              <a:t>inability</a:t>
            </a:r>
            <a:r>
              <a:rPr dirty="0" spc="35"/>
              <a:t> </a:t>
            </a:r>
            <a:r>
              <a:rPr dirty="0" spc="-25"/>
              <a:t>to </a:t>
            </a:r>
            <a:r>
              <a:rPr dirty="0"/>
              <a:t>capture</a:t>
            </a:r>
            <a:r>
              <a:rPr dirty="0" spc="455"/>
              <a:t> </a:t>
            </a:r>
            <a:r>
              <a:rPr dirty="0"/>
              <a:t>word</a:t>
            </a:r>
            <a:r>
              <a:rPr dirty="0" spc="459"/>
              <a:t> </a:t>
            </a:r>
            <a:r>
              <a:rPr dirty="0"/>
              <a:t>similarities</a:t>
            </a:r>
            <a:r>
              <a:rPr dirty="0" spc="459"/>
              <a:t> </a:t>
            </a:r>
            <a:r>
              <a:rPr dirty="0"/>
              <a:t>(synonyms),</a:t>
            </a:r>
            <a:r>
              <a:rPr dirty="0" spc="445"/>
              <a:t> </a:t>
            </a:r>
            <a:r>
              <a:rPr dirty="0"/>
              <a:t>short</a:t>
            </a:r>
            <a:r>
              <a:rPr dirty="0" spc="455"/>
              <a:t> </a:t>
            </a:r>
            <a:r>
              <a:rPr dirty="0"/>
              <a:t>glosses,</a:t>
            </a:r>
            <a:r>
              <a:rPr dirty="0" spc="450"/>
              <a:t> </a:t>
            </a:r>
            <a:r>
              <a:rPr dirty="0"/>
              <a:t>and</a:t>
            </a:r>
            <a:r>
              <a:rPr dirty="0" spc="450"/>
              <a:t> </a:t>
            </a:r>
            <a:r>
              <a:rPr dirty="0"/>
              <a:t>rigid</a:t>
            </a:r>
            <a:r>
              <a:rPr dirty="0" spc="465"/>
              <a:t> </a:t>
            </a:r>
            <a:r>
              <a:rPr dirty="0"/>
              <a:t>matching</a:t>
            </a:r>
            <a:r>
              <a:rPr dirty="0" spc="450"/>
              <a:t> </a:t>
            </a:r>
            <a:r>
              <a:rPr dirty="0"/>
              <a:t>of</a:t>
            </a:r>
            <a:r>
              <a:rPr dirty="0" spc="445"/>
              <a:t> </a:t>
            </a:r>
            <a:r>
              <a:rPr dirty="0"/>
              <a:t>words.</a:t>
            </a:r>
            <a:r>
              <a:rPr dirty="0" spc="459"/>
              <a:t> </a:t>
            </a:r>
            <a:r>
              <a:rPr dirty="0" spc="-25"/>
              <a:t>The </a:t>
            </a:r>
            <a:r>
              <a:rPr dirty="0"/>
              <a:t>advanced</a:t>
            </a:r>
            <a:r>
              <a:rPr dirty="0" spc="555"/>
              <a:t> </a:t>
            </a:r>
            <a:r>
              <a:rPr dirty="0"/>
              <a:t>versions</a:t>
            </a:r>
            <a:r>
              <a:rPr dirty="0" spc="560"/>
              <a:t> </a:t>
            </a:r>
            <a:r>
              <a:rPr dirty="0"/>
              <a:t>incorporate</a:t>
            </a:r>
            <a:r>
              <a:rPr dirty="0" spc="560"/>
              <a:t> </a:t>
            </a:r>
            <a:r>
              <a:rPr dirty="0"/>
              <a:t>additional</a:t>
            </a:r>
            <a:r>
              <a:rPr dirty="0" spc="560"/>
              <a:t> </a:t>
            </a:r>
            <a:r>
              <a:rPr dirty="0"/>
              <a:t>information,</a:t>
            </a:r>
            <a:r>
              <a:rPr dirty="0" spc="560"/>
              <a:t> </a:t>
            </a:r>
            <a:r>
              <a:rPr dirty="0"/>
              <a:t>like</a:t>
            </a:r>
            <a:r>
              <a:rPr dirty="0" spc="550"/>
              <a:t> </a:t>
            </a:r>
            <a:r>
              <a:rPr dirty="0"/>
              <a:t>expanded</a:t>
            </a:r>
            <a:r>
              <a:rPr dirty="0" spc="555"/>
              <a:t> </a:t>
            </a:r>
            <a:r>
              <a:rPr dirty="0"/>
              <a:t>glosses,</a:t>
            </a:r>
            <a:r>
              <a:rPr dirty="0" spc="570"/>
              <a:t> </a:t>
            </a:r>
            <a:r>
              <a:rPr dirty="0"/>
              <a:t>usage</a:t>
            </a:r>
            <a:r>
              <a:rPr dirty="0" spc="560"/>
              <a:t> </a:t>
            </a:r>
            <a:r>
              <a:rPr dirty="0" spc="-25"/>
              <a:t>of </a:t>
            </a:r>
            <a:r>
              <a:rPr dirty="0"/>
              <a:t>semantic</a:t>
            </a:r>
            <a:r>
              <a:rPr dirty="0" spc="-45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like</a:t>
            </a:r>
            <a:r>
              <a:rPr dirty="0" spc="-90"/>
              <a:t> </a:t>
            </a:r>
            <a:r>
              <a:rPr dirty="0" spc="-10"/>
              <a:t>WordNet,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more</a:t>
            </a:r>
            <a:r>
              <a:rPr dirty="0" spc="-5"/>
              <a:t> </a:t>
            </a:r>
            <a:r>
              <a:rPr dirty="0"/>
              <a:t>sophisticated</a:t>
            </a:r>
            <a:r>
              <a:rPr dirty="0" spc="-55"/>
              <a:t> </a:t>
            </a:r>
            <a:r>
              <a:rPr dirty="0"/>
              <a:t>similarity</a:t>
            </a:r>
            <a:r>
              <a:rPr dirty="0" spc="-50"/>
              <a:t> </a:t>
            </a:r>
            <a:r>
              <a:rPr dirty="0" spc="-10"/>
              <a:t>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35152" y="2863214"/>
            <a:ext cx="5300980" cy="338455"/>
          </a:xfrm>
          <a:custGeom>
            <a:avLst/>
            <a:gdLst/>
            <a:ahLst/>
            <a:cxnLst/>
            <a:rect l="l" t="t" r="r" b="b"/>
            <a:pathLst>
              <a:path w="5300980" h="338455">
                <a:moveTo>
                  <a:pt x="1036307" y="0"/>
                </a:moveTo>
                <a:lnTo>
                  <a:pt x="923544" y="0"/>
                </a:lnTo>
                <a:lnTo>
                  <a:pt x="0" y="0"/>
                </a:lnTo>
                <a:lnTo>
                  <a:pt x="0" y="338328"/>
                </a:lnTo>
                <a:lnTo>
                  <a:pt x="923544" y="338328"/>
                </a:lnTo>
                <a:lnTo>
                  <a:pt x="1036307" y="338328"/>
                </a:lnTo>
                <a:lnTo>
                  <a:pt x="1036307" y="0"/>
                </a:lnTo>
                <a:close/>
              </a:path>
              <a:path w="5300980" h="338455">
                <a:moveTo>
                  <a:pt x="5300472" y="0"/>
                </a:moveTo>
                <a:lnTo>
                  <a:pt x="5300472" y="0"/>
                </a:lnTo>
                <a:lnTo>
                  <a:pt x="1036320" y="0"/>
                </a:lnTo>
                <a:lnTo>
                  <a:pt x="1036320" y="338328"/>
                </a:lnTo>
                <a:lnTo>
                  <a:pt x="5300472" y="338328"/>
                </a:lnTo>
                <a:lnTo>
                  <a:pt x="530047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8739" y="1349755"/>
            <a:ext cx="116185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Key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Enhancements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the</a:t>
            </a:r>
            <a:r>
              <a:rPr dirty="0" sz="2400" spc="-1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Advanced</a:t>
            </a:r>
            <a:r>
              <a:rPr dirty="0" sz="2400" spc="-20" b="1">
                <a:latin typeface="Times New Roman"/>
                <a:cs typeface="Times New Roman"/>
              </a:rPr>
              <a:t> Lesk</a:t>
            </a:r>
            <a:r>
              <a:rPr dirty="0" sz="2400" spc="-1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Algorithm:</a:t>
            </a:r>
            <a:endParaRPr sz="2400">
              <a:latin typeface="Times New Roman"/>
              <a:cs typeface="Times New Roman"/>
            </a:endParaRPr>
          </a:p>
          <a:p>
            <a:pPr marL="241300" indent="-231775">
              <a:lnSpc>
                <a:spcPct val="100000"/>
              </a:lnSpc>
              <a:buSzPct val="95833"/>
              <a:buAutoNum type="arabicPeriod"/>
              <a:tabLst>
                <a:tab pos="241300" algn="l"/>
              </a:tabLst>
            </a:pPr>
            <a:r>
              <a:rPr dirty="0" sz="2400" b="1">
                <a:latin typeface="Times New Roman"/>
                <a:cs typeface="Times New Roman"/>
              </a:rPr>
              <a:t>Extended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Gloss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Overlap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AutoNum type="arabicPeriod"/>
              <a:tabLst>
                <a:tab pos="756285" algn="l"/>
              </a:tabLst>
            </a:pPr>
            <a:r>
              <a:rPr dirty="0" sz="2400">
                <a:latin typeface="Times New Roman"/>
                <a:cs typeface="Times New Roman"/>
              </a:rPr>
              <a:t>Instead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relying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solely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gloss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(definition)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word,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approach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extends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2452" y="2446731"/>
            <a:ext cx="61315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7875" algn="l"/>
                <a:tab pos="1217930" algn="l"/>
                <a:tab pos="2505710" algn="l"/>
                <a:tab pos="3943350" algn="l"/>
                <a:tab pos="4333240" algn="l"/>
                <a:tab pos="5298440" algn="l"/>
              </a:tabLst>
            </a:pPr>
            <a:r>
              <a:rPr dirty="0" sz="2400" spc="-10">
                <a:latin typeface="Times New Roman"/>
                <a:cs typeface="Times New Roman"/>
              </a:rPr>
              <a:t>gloss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by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including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definitions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related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words,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77456" y="2497454"/>
            <a:ext cx="4678680" cy="3384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2585"/>
              </a:lnSpc>
              <a:tabLst>
                <a:tab pos="730250" algn="l"/>
                <a:tab pos="1139190" algn="l"/>
                <a:tab pos="2733675" algn="l"/>
                <a:tab pos="3643629" algn="l"/>
              </a:tabLst>
            </a:pPr>
            <a:r>
              <a:rPr dirty="0" sz="2400" spc="-20" b="1">
                <a:latin typeface="Times New Roman"/>
                <a:cs typeface="Times New Roman"/>
              </a:rPr>
              <a:t>such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5" b="1">
                <a:latin typeface="Times New Roman"/>
                <a:cs typeface="Times New Roman"/>
              </a:rPr>
              <a:t>as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hypernyms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(more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general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739" y="2813050"/>
            <a:ext cx="1161923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756285" marR="635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terms),</a:t>
            </a:r>
            <a:r>
              <a:rPr dirty="0" sz="2400" spc="25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hyponyms</a:t>
            </a:r>
            <a:r>
              <a:rPr dirty="0" sz="2400" spc="2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(more</a:t>
            </a:r>
            <a:r>
              <a:rPr dirty="0" sz="2400" spc="25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specific</a:t>
            </a:r>
            <a:r>
              <a:rPr dirty="0" sz="2400" spc="2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terms)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2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other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semantically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related</a:t>
            </a:r>
            <a:r>
              <a:rPr dirty="0" sz="2400" spc="2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words.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This </a:t>
            </a:r>
            <a:r>
              <a:rPr dirty="0" sz="2400">
                <a:latin typeface="Times New Roman"/>
                <a:cs typeface="Times New Roman"/>
              </a:rPr>
              <a:t>increases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pool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words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compare,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enhancing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chances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meaningful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overlaps.</a:t>
            </a:r>
            <a:endParaRPr sz="2400">
              <a:latin typeface="Times New Roman"/>
              <a:cs typeface="Times New Roman"/>
            </a:endParaRPr>
          </a:p>
          <a:p>
            <a:pPr algn="just" marL="241300" indent="-231775">
              <a:lnSpc>
                <a:spcPct val="100000"/>
              </a:lnSpc>
              <a:buSzPct val="95833"/>
              <a:buAutoNum type="arabicPeriod" startAt="2"/>
              <a:tabLst>
                <a:tab pos="241300" algn="l"/>
              </a:tabLst>
            </a:pPr>
            <a:r>
              <a:rPr dirty="0" sz="2400" b="1">
                <a:latin typeface="Times New Roman"/>
                <a:cs typeface="Times New Roman"/>
              </a:rPr>
              <a:t>Use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Synonyms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Related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Words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algn="just" lvl="1" marL="755015" marR="5080" indent="-285750">
              <a:lnSpc>
                <a:spcPct val="100000"/>
              </a:lnSpc>
              <a:buAutoNum type="arabicPeriod"/>
              <a:tabLst>
                <a:tab pos="756285" algn="l"/>
              </a:tabLst>
            </a:pP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4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addition</a:t>
            </a:r>
            <a:r>
              <a:rPr dirty="0" sz="2400" spc="3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3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exact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word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matches,</a:t>
            </a:r>
            <a:r>
              <a:rPr dirty="0" sz="2400" spc="3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4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advanced</a:t>
            </a:r>
            <a:r>
              <a:rPr dirty="0" sz="2400" spc="4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version</a:t>
            </a:r>
            <a:r>
              <a:rPr dirty="0" sz="2400" spc="3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incorporates</a:t>
            </a:r>
            <a:r>
              <a:rPr dirty="0" sz="2400" spc="3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synonyms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other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related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words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3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semantic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network.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example,</a:t>
            </a:r>
            <a:r>
              <a:rPr dirty="0" sz="2400" spc="3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might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recognize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that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"riverbank"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similar 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"river"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"shore"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context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geographical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features.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02158" y="845565"/>
            <a:ext cx="70250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dirty="0" sz="2400" b="1">
                <a:latin typeface="Times New Roman"/>
                <a:cs typeface="Times New Roman"/>
              </a:rPr>
              <a:t>Semantic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Similarity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Some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implementations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advanced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Lesk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15021" y="1261872"/>
            <a:ext cx="4422775" cy="3384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2580"/>
              </a:lnSpc>
            </a:pPr>
            <a:r>
              <a:rPr dirty="0" sz="2400" b="1">
                <a:latin typeface="Times New Roman"/>
                <a:cs typeface="Times New Roman"/>
              </a:rPr>
              <a:t>use</a:t>
            </a:r>
            <a:r>
              <a:rPr dirty="0" sz="2400" spc="1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semantic</a:t>
            </a:r>
            <a:r>
              <a:rPr dirty="0" sz="2400" spc="1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similarity</a:t>
            </a:r>
            <a:r>
              <a:rPr dirty="0" sz="2400" spc="1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measures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2158" y="1577085"/>
            <a:ext cx="11475085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76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rather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than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simple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word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overlap.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instance,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algorithm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could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leverage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similarity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scores </a:t>
            </a:r>
            <a:r>
              <a:rPr dirty="0" sz="2400">
                <a:latin typeface="Times New Roman"/>
                <a:cs typeface="Times New Roman"/>
              </a:rPr>
              <a:t>between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words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their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distance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30">
                <a:latin typeface="Times New Roman"/>
                <a:cs typeface="Times New Roman"/>
              </a:rPr>
              <a:t>WordNet’s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hierarchy.</a:t>
            </a:r>
            <a:endParaRPr sz="2400">
              <a:latin typeface="Times New Roman"/>
              <a:cs typeface="Times New Roman"/>
            </a:endParaRPr>
          </a:p>
          <a:p>
            <a:pPr algn="just" marL="118745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dirty="0" sz="2400" b="1">
                <a:latin typeface="Times New Roman"/>
                <a:cs typeface="Times New Roman"/>
              </a:rPr>
              <a:t>Contextual</a:t>
            </a:r>
            <a:r>
              <a:rPr dirty="0" sz="2400" spc="-114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Expansion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algn="just" marL="12700" marR="5080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context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disambiguation</a:t>
            </a:r>
            <a:r>
              <a:rPr dirty="0" sz="2400" spc="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also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expanded.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Instead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just</a:t>
            </a:r>
            <a:r>
              <a:rPr dirty="0" sz="2400" spc="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looking</a:t>
            </a:r>
            <a:r>
              <a:rPr dirty="0" sz="2400" spc="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fixed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window </a:t>
            </a:r>
            <a:r>
              <a:rPr dirty="0" sz="2400">
                <a:latin typeface="Times New Roman"/>
                <a:cs typeface="Times New Roman"/>
              </a:rPr>
              <a:t>around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ambiguous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word,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context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might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include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sentence,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paragraph,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 </a:t>
            </a:r>
            <a:r>
              <a:rPr dirty="0" sz="2400" spc="-20">
                <a:latin typeface="Times New Roman"/>
                <a:cs typeface="Times New Roman"/>
              </a:rPr>
              <a:t>even </a:t>
            </a:r>
            <a:r>
              <a:rPr dirty="0" sz="2400" spc="-10">
                <a:latin typeface="Times New Roman"/>
                <a:cs typeface="Times New Roman"/>
              </a:rPr>
              <a:t>document.</a:t>
            </a:r>
            <a:endParaRPr sz="2400">
              <a:latin typeface="Times New Roman"/>
              <a:cs typeface="Times New Roman"/>
            </a:endParaRPr>
          </a:p>
          <a:p>
            <a:pPr algn="just" marL="118745" indent="-114300">
              <a:lnSpc>
                <a:spcPct val="100000"/>
              </a:lnSpc>
              <a:spcBef>
                <a:spcPts val="5"/>
              </a:spcBef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Smoothing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Techniques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algn="just"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algorithm</a:t>
            </a:r>
            <a:r>
              <a:rPr dirty="0" sz="2400" spc="4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apply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smoothing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handle</a:t>
            </a:r>
            <a:r>
              <a:rPr dirty="0" sz="2400" spc="4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cases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some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senses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have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very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short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2158" y="4503801"/>
            <a:ext cx="90392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glosses,</a:t>
            </a:r>
            <a:r>
              <a:rPr dirty="0" sz="2400" spc="3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3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might</a:t>
            </a:r>
            <a:r>
              <a:rPr dirty="0" sz="2400" spc="3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lead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low</a:t>
            </a:r>
            <a:r>
              <a:rPr dirty="0" sz="2400" spc="3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overlap</a:t>
            </a:r>
            <a:r>
              <a:rPr dirty="0" sz="2400" spc="3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scores.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3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3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done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454133" y="4553711"/>
            <a:ext cx="2383790" cy="3384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585"/>
              </a:lnSpc>
            </a:pPr>
            <a:r>
              <a:rPr dirty="0" sz="2400" b="1">
                <a:latin typeface="Times New Roman"/>
                <a:cs typeface="Times New Roman"/>
              </a:rPr>
              <a:t>weighting</a:t>
            </a:r>
            <a:r>
              <a:rPr dirty="0" sz="2400" spc="3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certain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4718" y="4919471"/>
            <a:ext cx="11521440" cy="3384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85"/>
              </a:lnSpc>
            </a:pPr>
            <a:r>
              <a:rPr dirty="0" sz="2400" b="1">
                <a:latin typeface="Times New Roman"/>
                <a:cs typeface="Times New Roman"/>
              </a:rPr>
              <a:t>parts</a:t>
            </a:r>
            <a:r>
              <a:rPr dirty="0" sz="2400" spc="10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10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1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gloss</a:t>
            </a:r>
            <a:r>
              <a:rPr dirty="0" sz="2400" spc="1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more</a:t>
            </a:r>
            <a:r>
              <a:rPr dirty="0" sz="2400" spc="9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heavily,</a:t>
            </a:r>
            <a:r>
              <a:rPr dirty="0" sz="2400" spc="1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by</a:t>
            </a:r>
            <a:r>
              <a:rPr dirty="0" sz="2400" spc="1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giving</a:t>
            </a:r>
            <a:r>
              <a:rPr dirty="0" sz="2400" spc="1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partial</a:t>
            </a:r>
            <a:r>
              <a:rPr dirty="0" sz="2400" spc="1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credit</a:t>
            </a:r>
            <a:r>
              <a:rPr dirty="0" sz="2400" spc="9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</a:t>
            </a:r>
            <a:r>
              <a:rPr dirty="0" sz="2400" spc="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related</a:t>
            </a:r>
            <a:r>
              <a:rPr dirty="0" sz="2400" spc="1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words</a:t>
            </a:r>
            <a:r>
              <a:rPr dirty="0" sz="2400" spc="1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that</a:t>
            </a:r>
            <a:r>
              <a:rPr dirty="0" sz="2400" spc="10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aren't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4718" y="5285232"/>
            <a:ext cx="1910080" cy="3384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90"/>
              </a:lnSpc>
            </a:pPr>
            <a:r>
              <a:rPr dirty="0" sz="2400" b="1">
                <a:latin typeface="Times New Roman"/>
                <a:cs typeface="Times New Roman"/>
              </a:rPr>
              <a:t>exact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matches.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0232" y="2245439"/>
            <a:ext cx="10563225" cy="231140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 spc="-10" b="1">
                <a:latin typeface="Times New Roman"/>
                <a:cs typeface="Times New Roman"/>
              </a:rPr>
              <a:t>Conclusion: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Advanced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Lesk</a:t>
            </a:r>
            <a:r>
              <a:rPr dirty="0" sz="2000" spc="-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Algorithm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addresses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original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algorithm's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shortcomings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expanding </a:t>
            </a:r>
            <a:r>
              <a:rPr dirty="0" sz="2000">
                <a:latin typeface="Times New Roman"/>
                <a:cs typeface="Times New Roman"/>
              </a:rPr>
              <a:t>glosses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sophisticated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determining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overlaps.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still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remains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 </a:t>
            </a:r>
            <a:r>
              <a:rPr dirty="0" sz="2000" spc="-10">
                <a:latin typeface="Times New Roman"/>
                <a:cs typeface="Times New Roman"/>
              </a:rPr>
              <a:t>dictionary-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approach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better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contexts.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However,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be </a:t>
            </a:r>
            <a:r>
              <a:rPr dirty="0" sz="2000">
                <a:latin typeface="Times New Roman"/>
                <a:cs typeface="Times New Roman"/>
              </a:rPr>
              <a:t>computationally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expensive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relies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quality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dictionary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lexical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uses.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27752" y="1609978"/>
            <a:ext cx="1763395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2000" spc="-10" b="1">
                <a:latin typeface="Times New Roman"/>
                <a:cs typeface="Times New Roman"/>
              </a:rPr>
              <a:t>Lesk</a:t>
            </a:r>
            <a:r>
              <a:rPr dirty="0" sz="2000" spc="-9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12826" y="1565528"/>
            <a:ext cx="113347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78600" algn="l"/>
              </a:tabLst>
            </a:pPr>
            <a:r>
              <a:rPr dirty="0" sz="2000" spc="-10">
                <a:latin typeface="Times New Roman"/>
                <a:cs typeface="Times New Roman"/>
              </a:rPr>
              <a:t>Let’s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walk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numerical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</a:t>
            </a:r>
            <a:r>
              <a:rPr dirty="0" sz="2000">
                <a:latin typeface="Times New Roman"/>
                <a:cs typeface="Times New Roman"/>
              </a:rPr>
              <a:t>	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clarify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works.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Suppose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0">
                <a:latin typeface="Times New Roman"/>
                <a:cs typeface="Times New Roman"/>
              </a:rPr>
              <a:t> tasked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2826" y="1871319"/>
            <a:ext cx="10699115" cy="36836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disambiguating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"bass"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following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sentence:</a:t>
            </a:r>
            <a:endParaRPr sz="2000">
              <a:latin typeface="Times New Roman"/>
              <a:cs typeface="Times New Roman"/>
            </a:endParaRPr>
          </a:p>
          <a:p>
            <a:pPr marL="12700" marR="7023100">
              <a:lnSpc>
                <a:spcPct val="150000"/>
              </a:lnSpc>
            </a:pPr>
            <a:r>
              <a:rPr dirty="0" sz="2000" b="1">
                <a:latin typeface="Times New Roman"/>
                <a:cs typeface="Times New Roman"/>
              </a:rPr>
              <a:t>"He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likes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play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bass</a:t>
            </a:r>
            <a:r>
              <a:rPr dirty="0" sz="2000" spc="-20" b="1">
                <a:latin typeface="Times New Roman"/>
                <a:cs typeface="Times New Roman"/>
              </a:rPr>
              <a:t> guitar." </a:t>
            </a:r>
            <a:r>
              <a:rPr dirty="0" sz="2000" b="1">
                <a:latin typeface="Times New Roman"/>
                <a:cs typeface="Times New Roman"/>
              </a:rPr>
              <a:t>Step-</a:t>
            </a:r>
            <a:r>
              <a:rPr dirty="0" sz="2000" spc="-10" b="1">
                <a:latin typeface="Times New Roman"/>
                <a:cs typeface="Times New Roman"/>
              </a:rPr>
              <a:t>by-</a:t>
            </a: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1: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Identify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Target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Senses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target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"bass"</a:t>
            </a:r>
            <a:r>
              <a:rPr dirty="0" sz="2000">
                <a:latin typeface="Times New Roman"/>
                <a:cs typeface="Times New Roman"/>
              </a:rPr>
              <a:t>.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According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"bass"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several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senses.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Let’s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focus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them:</a:t>
            </a:r>
            <a:endParaRPr sz="2000">
              <a:latin typeface="Times New Roman"/>
              <a:cs typeface="Times New Roman"/>
            </a:endParaRPr>
          </a:p>
          <a:p>
            <a:pPr marL="202565" indent="-193675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02565" algn="l"/>
              </a:tabLst>
            </a:pPr>
            <a:r>
              <a:rPr dirty="0" sz="2000" b="1">
                <a:latin typeface="Times New Roman"/>
                <a:cs typeface="Times New Roman"/>
              </a:rPr>
              <a:t>bass.n.01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lowest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adult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male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voice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(gloss: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lowest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musical</a:t>
            </a:r>
            <a:r>
              <a:rPr dirty="0" sz="2000" spc="-10">
                <a:latin typeface="Times New Roman"/>
                <a:cs typeface="Times New Roman"/>
              </a:rPr>
              <a:t> range").</a:t>
            </a:r>
            <a:endParaRPr sz="2000">
              <a:latin typeface="Times New Roman"/>
              <a:cs typeface="Times New Roman"/>
            </a:endParaRPr>
          </a:p>
          <a:p>
            <a:pPr marL="12700" marR="556895" indent="-3810">
              <a:lnSpc>
                <a:spcPts val="3600"/>
              </a:lnSpc>
              <a:spcBef>
                <a:spcPts val="120"/>
              </a:spcBef>
              <a:buSzPct val="95000"/>
              <a:buAutoNum type="arabicPeriod"/>
              <a:tabLst>
                <a:tab pos="202565" algn="l"/>
              </a:tabLst>
            </a:pP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bass.n.02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 various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North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American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freshwater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fish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flesh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(especially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 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genus </a:t>
            </a:r>
            <a:r>
              <a:rPr dirty="0" sz="2000">
                <a:latin typeface="Times New Roman"/>
                <a:cs typeface="Times New Roman"/>
              </a:rPr>
              <a:t>Micropterus)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(gloss: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"any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various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North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American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freshwater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fish").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97865" y="149050"/>
            <a:ext cx="11097895" cy="642747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2: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Define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Context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sentence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likes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play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bass</a:t>
            </a:r>
            <a:r>
              <a:rPr dirty="0" sz="2000" spc="-20" b="1">
                <a:latin typeface="Times New Roman"/>
                <a:cs typeface="Times New Roman"/>
              </a:rPr>
              <a:t> guitar."</a:t>
            </a:r>
            <a:r>
              <a:rPr dirty="0" sz="2000" spc="-20">
                <a:latin typeface="Times New Roman"/>
                <a:cs typeface="Times New Roman"/>
              </a:rPr>
              <a:t>.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are: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["He",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"likes",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"to",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"play",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"the",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"bass",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"guitar"]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3: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Retrieve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Glosses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Calculate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Overlap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50">
                <a:latin typeface="Times New Roman"/>
                <a:cs typeface="Times New Roman"/>
              </a:rPr>
              <a:t>We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now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compare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"bass"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words.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count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many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sentence.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(bass.n.01)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lowest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part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musical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range"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 spc="-10">
                <a:latin typeface="Times New Roman"/>
                <a:cs typeface="Times New Roman"/>
              </a:rPr>
              <a:t>Tokenized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["the",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"lowest",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"part",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"of",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"the",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"musical",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"range"]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Common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["the",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"musical"]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count: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(bass.n.02)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Gloss: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"any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various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North</a:t>
            </a:r>
            <a:r>
              <a:rPr dirty="0" sz="2000" spc="-1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American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freshwater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fish"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 spc="-10">
                <a:latin typeface="Times New Roman"/>
                <a:cs typeface="Times New Roman"/>
              </a:rPr>
              <a:t>Tokenized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["any",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"of",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"various",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"North",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"American",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"freshwater",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"fish"]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Common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None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count: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8533" y="610822"/>
            <a:ext cx="10145395" cy="55124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4: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Select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Best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Sense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 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highest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chosen.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case: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(bass.n.01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lowest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adult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male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voice)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words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context.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(bass.n.02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freshwater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fish)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0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words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context.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Thus,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selects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(musical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"bass")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correct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meaning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context.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Times New Roman"/>
                <a:cs typeface="Times New Roman"/>
              </a:rPr>
              <a:t>Numerical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Summary: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Word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Disambiguate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"bass"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Context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Sentence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guitar."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Possible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Overlaps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(musical)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(fish)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Predicted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(musical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"bass").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48375" y="1886965"/>
            <a:ext cx="2854960" cy="281940"/>
          </a:xfrm>
          <a:custGeom>
            <a:avLst/>
            <a:gdLst/>
            <a:ahLst/>
            <a:cxnLst/>
            <a:rect l="l" t="t" r="r" b="b"/>
            <a:pathLst>
              <a:path w="2854959" h="281939">
                <a:moveTo>
                  <a:pt x="2854452" y="0"/>
                </a:moveTo>
                <a:lnTo>
                  <a:pt x="1722120" y="0"/>
                </a:lnTo>
                <a:lnTo>
                  <a:pt x="1673352" y="0"/>
                </a:lnTo>
                <a:lnTo>
                  <a:pt x="1150620" y="0"/>
                </a:lnTo>
                <a:lnTo>
                  <a:pt x="0" y="0"/>
                </a:lnTo>
                <a:lnTo>
                  <a:pt x="0" y="281940"/>
                </a:lnTo>
                <a:lnTo>
                  <a:pt x="1150620" y="281940"/>
                </a:lnTo>
                <a:lnTo>
                  <a:pt x="1673352" y="281940"/>
                </a:lnTo>
                <a:lnTo>
                  <a:pt x="1722120" y="281940"/>
                </a:lnTo>
                <a:lnTo>
                  <a:pt x="2854452" y="281940"/>
                </a:lnTo>
                <a:lnTo>
                  <a:pt x="285445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99515" y="1691338"/>
            <a:ext cx="8920480" cy="41408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>
                <a:latin typeface="Times New Roman"/>
                <a:cs typeface="Times New Roman"/>
              </a:rPr>
              <a:t>Let's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numerical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example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Advanced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Lesk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Algorithm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25">
                <a:latin typeface="Times New Roman"/>
                <a:cs typeface="Times New Roman"/>
              </a:rPr>
              <a:t> we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extend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incorporating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hypernyms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hyponyms.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Example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Task: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40">
                <a:latin typeface="Times New Roman"/>
                <a:cs typeface="Times New Roman"/>
              </a:rPr>
              <a:t>We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disambiguating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"bass"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sentence: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"He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likes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play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guitar."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Identify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30" b="1">
                <a:latin typeface="Times New Roman"/>
                <a:cs typeface="Times New Roman"/>
              </a:rPr>
              <a:t>Target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Senses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target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"bass"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we'll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focus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before:</a:t>
            </a:r>
            <a:endParaRPr sz="2000">
              <a:latin typeface="Times New Roman"/>
              <a:cs typeface="Times New Roman"/>
            </a:endParaRPr>
          </a:p>
          <a:p>
            <a:pPr marL="202565" indent="-193675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02565" algn="l"/>
              </a:tabLst>
            </a:pPr>
            <a:r>
              <a:rPr dirty="0" sz="2000" b="1">
                <a:latin typeface="Times New Roman"/>
                <a:cs typeface="Times New Roman"/>
              </a:rPr>
              <a:t>bass.n.01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lowest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adult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male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voice.</a:t>
            </a:r>
            <a:endParaRPr sz="2000">
              <a:latin typeface="Times New Roman"/>
              <a:cs typeface="Times New Roman"/>
            </a:endParaRPr>
          </a:p>
          <a:p>
            <a:pPr marL="202565" indent="-193675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02565" algn="l"/>
              </a:tabLst>
            </a:pPr>
            <a:r>
              <a:rPr dirty="0" sz="2000" b="1">
                <a:latin typeface="Times New Roman"/>
                <a:cs typeface="Times New Roman"/>
              </a:rPr>
              <a:t>bass.n.02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type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North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American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freshwater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fish.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069" y="379577"/>
            <a:ext cx="10005695" cy="59702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2: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Context</a:t>
            </a:r>
            <a:endParaRPr sz="2000">
              <a:latin typeface="Times New Roman"/>
              <a:cs typeface="Times New Roman"/>
            </a:endParaRPr>
          </a:p>
          <a:p>
            <a:pPr marL="12700" marR="330835">
              <a:lnSpc>
                <a:spcPct val="150000"/>
              </a:lnSpc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sentence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likes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play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bass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guitar."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are: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["He", </a:t>
            </a:r>
            <a:r>
              <a:rPr dirty="0" sz="2000" b="1">
                <a:latin typeface="Times New Roman"/>
                <a:cs typeface="Times New Roman"/>
              </a:rPr>
              <a:t>"likes",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"to",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"play",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"the",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"bass",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"guitar"]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3: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Retrieve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Glosses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Related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(Extended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Glosses)</a:t>
            </a:r>
            <a:endParaRPr sz="2000">
              <a:latin typeface="Times New Roman"/>
              <a:cs typeface="Times New Roman"/>
            </a:endParaRPr>
          </a:p>
          <a:p>
            <a:pPr marL="12700" marR="710565">
              <a:lnSpc>
                <a:spcPct val="150000"/>
              </a:lnSpc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Advanced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Lesk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retrieve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(definition)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-10">
                <a:latin typeface="Times New Roman"/>
                <a:cs typeface="Times New Roman"/>
              </a:rPr>
              <a:t> related </a:t>
            </a:r>
            <a:r>
              <a:rPr dirty="0" sz="2000">
                <a:latin typeface="Times New Roman"/>
                <a:cs typeface="Times New Roman"/>
              </a:rPr>
              <a:t>glosses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hypernyms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hyponyms.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(bass.n.01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-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lowest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singing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voice)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Gloss: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lowest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part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musical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range"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Hypernym: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"voice"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(Gloss: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"the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sound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made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by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vibration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vocal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cords"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Hyponym: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"baritone"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(Gloss: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second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lowest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adult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male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singing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voice"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 b="1">
                <a:latin typeface="Times New Roman"/>
                <a:cs typeface="Times New Roman"/>
              </a:rPr>
              <a:t>Extended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Gloss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["the",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"lowest",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"part",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"of",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"the",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"musical",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"range",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"voice",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"sound",</a:t>
            </a:r>
            <a:endParaRPr sz="2000">
              <a:latin typeface="Times New Roman"/>
              <a:cs typeface="Times New Roman"/>
            </a:endParaRPr>
          </a:p>
          <a:p>
            <a:pPr marL="756285" marR="548005">
              <a:lnSpc>
                <a:spcPct val="150000"/>
              </a:lnSpc>
            </a:pPr>
            <a:r>
              <a:rPr dirty="0" sz="2000">
                <a:latin typeface="Times New Roman"/>
                <a:cs typeface="Times New Roman"/>
              </a:rPr>
              <a:t>"made",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"vibration",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"vocal",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"cords",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"baritone",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"second",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"lowest",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"adult",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"male", "singing"]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4843" y="327993"/>
            <a:ext cx="11007090" cy="642747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29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(bass.n.02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-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freshwater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fish)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Gloss: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"any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various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North</a:t>
            </a:r>
            <a:r>
              <a:rPr dirty="0" sz="2000" spc="-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American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freshwater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fish"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Hypernym: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"fish"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(Gloss: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"any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various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cold-</a:t>
            </a:r>
            <a:r>
              <a:rPr dirty="0" sz="2000" b="1">
                <a:latin typeface="Times New Roman"/>
                <a:cs typeface="Times New Roman"/>
              </a:rPr>
              <a:t>blooded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vertebrates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living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water"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Hyponym: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"smallmouth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bass"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(Gloss: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"a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freshwater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with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small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mouth"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lvl="1" marL="756285" marR="27305" indent="-287020">
              <a:lnSpc>
                <a:spcPts val="3600"/>
              </a:lnSpc>
              <a:spcBef>
                <a:spcPts val="32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 b="1">
                <a:latin typeface="Times New Roman"/>
                <a:cs typeface="Times New Roman"/>
              </a:rPr>
              <a:t>Extended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Gloss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["any",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"of",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"various",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"North",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"American",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"freshwater",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"fish",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"cold-</a:t>
            </a:r>
            <a:r>
              <a:rPr dirty="0" sz="2000" spc="-10">
                <a:latin typeface="Times New Roman"/>
                <a:cs typeface="Times New Roman"/>
              </a:rPr>
              <a:t>blooded", </a:t>
            </a:r>
            <a:r>
              <a:rPr dirty="0" sz="2000">
                <a:latin typeface="Times New Roman"/>
                <a:cs typeface="Times New Roman"/>
              </a:rPr>
              <a:t>"vertebrates",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"living",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"in",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"water",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"smallmouth",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"bass",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"small",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"mouth"]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4: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Calculate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Overlap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20">
                <a:latin typeface="Times New Roman"/>
                <a:cs typeface="Times New Roman"/>
              </a:rPr>
              <a:t>Now,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calculate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 overlap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extended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 context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(musical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"bass"):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Extended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Gloss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["the",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"lowest",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"part",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"of",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"the",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"musical",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"range",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"voice",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"sound",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"made",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"vibration",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"vocal",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"cords",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"baritone",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"second",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"lowest",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"adult",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"male", </a:t>
            </a:r>
            <a:r>
              <a:rPr dirty="0" sz="2000" spc="-10">
                <a:latin typeface="Times New Roman"/>
                <a:cs typeface="Times New Roman"/>
              </a:rPr>
              <a:t>"singing"]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Context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["He",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"likes",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"to",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"play",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"the",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"bass",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"guitar"]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Common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["the",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"musical"]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Overlap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Count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6626" y="969365"/>
            <a:ext cx="11471910" cy="41414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 (fish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 </a:t>
            </a:r>
            <a:r>
              <a:rPr dirty="0" sz="2000" spc="-10" b="1">
                <a:latin typeface="Times New Roman"/>
                <a:cs typeface="Times New Roman"/>
              </a:rPr>
              <a:t>"bass"):</a:t>
            </a:r>
            <a:endParaRPr sz="2000">
              <a:latin typeface="Times New Roman"/>
              <a:cs typeface="Times New Roman"/>
            </a:endParaRPr>
          </a:p>
          <a:p>
            <a:pPr marL="12700" marR="368935" indent="-9525">
              <a:lnSpc>
                <a:spcPts val="3600"/>
              </a:lnSpc>
              <a:spcBef>
                <a:spcPts val="32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Extended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Gloss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["any",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"of",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"various",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"North",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"American",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"freshwater",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"fish",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"cold-</a:t>
            </a:r>
            <a:r>
              <a:rPr dirty="0" sz="2000" spc="-10">
                <a:latin typeface="Times New Roman"/>
                <a:cs typeface="Times New Roman"/>
              </a:rPr>
              <a:t>blooded", </a:t>
            </a:r>
            <a:r>
              <a:rPr dirty="0" sz="2000">
                <a:latin typeface="Times New Roman"/>
                <a:cs typeface="Times New Roman"/>
              </a:rPr>
              <a:t>"vertebrates",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"living",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"in",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"water",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"smallmouth",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"bass",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"small",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"mouth"]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88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Context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["He",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"likes",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"to",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"play",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"the",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"bass",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"guitar"]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Common</a:t>
            </a:r>
            <a:r>
              <a:rPr dirty="0" sz="2000" spc="-11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None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Overlap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Count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5: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Select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Best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Sense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original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Lesk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highest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selected.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Here,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(musical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sense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"bass")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(fish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"bass")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0</a:t>
            </a:r>
            <a:r>
              <a:rPr dirty="0" sz="2000" spc="-25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1024" y="1763959"/>
            <a:ext cx="5516880" cy="322707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2000" b="1">
                <a:latin typeface="Times New Roman"/>
                <a:cs typeface="Times New Roman"/>
              </a:rPr>
              <a:t>Numerical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Summary: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Word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Disambiguate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"bass"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Context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Sentence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guitar."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Extended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Gloss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Overlaps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75628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 (musical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sense)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lvl="1" marL="75628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 (fish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sense)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Overlap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 </a:t>
            </a:r>
            <a:r>
              <a:rPr dirty="0" sz="2000" spc="-50" b="1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Predicted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(musical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sense)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8134" y="2841701"/>
            <a:ext cx="24790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Thank</a:t>
            </a:r>
            <a:r>
              <a:rPr dirty="0" sz="4400" spc="-190"/>
              <a:t> </a:t>
            </a:r>
            <a:r>
              <a:rPr dirty="0" sz="4400" spc="-125"/>
              <a:t>You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Varda Pareek [MU - Jaipur]</dc:creator>
  <dcterms:created xsi:type="dcterms:W3CDTF">2026-02-13T09:08:40Z</dcterms:created>
  <dcterms:modified xsi:type="dcterms:W3CDTF">2026-02-13T09:08:40Z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2026-02-13T00:00:00Z</vt:filetime>
  </property>
  <property fmtid="{D5CDD505-2E9C-101B-9397-08002B2CF9AE}" pid="5" name="Producer">
    <vt:lpwstr>Microsoft® PowerPoint® for Microsoft 365</vt:lpwstr>
  </property>
</Properties>
</file>