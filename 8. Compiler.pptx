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0" d="100"/>
          <a:sy n="60" d="100"/>
        </p:scale>
        <p:origin x="84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11/18/2024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11/18/2024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11/18/2024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11/18/2024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11/18/2024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www.geeksforgeeks.org/code-optimization-in-compiler-design/" TargetMode="External"/><Relationship Id="rId2" Type="http://schemas.openxmlformats.org/officeDocument/2006/relationships/hyperlink" Target="https://www.geeksforgeeks.org/intermediate-code-generation-in-compiler-design/"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49B4-F940-A8C7-DC76-802A0722572F}"/>
              </a:ext>
            </a:extLst>
          </p:cNvPr>
          <p:cNvSpPr>
            <a:spLocks noGrp="1"/>
          </p:cNvSpPr>
          <p:nvPr>
            <p:ph type="ctrTitle"/>
          </p:nvPr>
        </p:nvSpPr>
        <p:spPr/>
        <p:txBody>
          <a:bodyPr>
            <a:normAutofit/>
          </a:bodyPr>
          <a:lstStyle/>
          <a:p>
            <a:r>
              <a:rPr lang="en-IN" sz="5400" dirty="0"/>
              <a:t>compiler</a:t>
            </a:r>
          </a:p>
        </p:txBody>
      </p:sp>
      <p:sp>
        <p:nvSpPr>
          <p:cNvPr id="3" name="Subtitle 2">
            <a:extLst>
              <a:ext uri="{FF2B5EF4-FFF2-40B4-BE49-F238E27FC236}">
                <a16:creationId xmlns:a16="http://schemas.microsoft.com/office/drawing/2014/main" id="{5DC9A6B1-EDE2-6AAB-5BFE-7A2A01575D4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198311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0543F-474C-3E73-4329-A4210BA3F4AF}"/>
              </a:ext>
            </a:extLst>
          </p:cNvPr>
          <p:cNvSpPr>
            <a:spLocks noGrp="1"/>
          </p:cNvSpPr>
          <p:nvPr>
            <p:ph type="title"/>
          </p:nvPr>
        </p:nvSpPr>
        <p:spPr>
          <a:xfrm>
            <a:off x="581192" y="702156"/>
            <a:ext cx="11029616" cy="765137"/>
          </a:xfrm>
        </p:spPr>
        <p:txBody>
          <a:bodyPr/>
          <a:lstStyle/>
          <a:p>
            <a:r>
              <a:rPr lang="en-IN" b="1" i="0" dirty="0">
                <a:solidFill>
                  <a:srgbClr val="FFC000"/>
                </a:solidFill>
                <a:effectLst/>
                <a:latin typeface="Poppins" panose="00000500000000000000" pitchFamily="2" charset="0"/>
              </a:rPr>
              <a:t>What is a Compiler?</a:t>
            </a:r>
            <a:endParaRPr lang="en-IN" dirty="0">
              <a:solidFill>
                <a:srgbClr val="FFC000"/>
              </a:solidFill>
            </a:endParaRPr>
          </a:p>
        </p:txBody>
      </p:sp>
      <p:sp>
        <p:nvSpPr>
          <p:cNvPr id="3" name="Content Placeholder 2">
            <a:extLst>
              <a:ext uri="{FF2B5EF4-FFF2-40B4-BE49-F238E27FC236}">
                <a16:creationId xmlns:a16="http://schemas.microsoft.com/office/drawing/2014/main" id="{0ABBAB35-051E-30F3-6EAA-4C80D68E7315}"/>
              </a:ext>
            </a:extLst>
          </p:cNvPr>
          <p:cNvSpPr>
            <a:spLocks noGrp="1"/>
          </p:cNvSpPr>
          <p:nvPr>
            <p:ph idx="1"/>
          </p:nvPr>
        </p:nvSpPr>
        <p:spPr>
          <a:xfrm>
            <a:off x="581191" y="1920003"/>
            <a:ext cx="11029615" cy="2051262"/>
          </a:xfrm>
        </p:spPr>
        <p:txBody>
          <a:bodyPr>
            <a:normAutofit/>
          </a:bodyPr>
          <a:lstStyle/>
          <a:p>
            <a:pPr marL="0" indent="0" algn="just">
              <a:lnSpc>
                <a:spcPct val="150000"/>
              </a:lnSpc>
              <a:buNone/>
            </a:pPr>
            <a:r>
              <a:rPr lang="en-IN" sz="2000" b="0" i="0" dirty="0">
                <a:solidFill>
                  <a:srgbClr val="444444"/>
                </a:solidFill>
                <a:effectLst/>
                <a:latin typeface="Poppins" panose="00000500000000000000" pitchFamily="2" charset="0"/>
              </a:rPr>
              <a:t>A compiler is a computer program that decodes computer code composed in one programming language into another language. Or we can say that the compiler helps in translating the source code composed in a high-level programming language into the machine code.</a:t>
            </a:r>
            <a:endParaRPr lang="en-IN" sz="2000" dirty="0"/>
          </a:p>
        </p:txBody>
      </p:sp>
      <p:pic>
        <p:nvPicPr>
          <p:cNvPr id="5" name="Picture 4">
            <a:extLst>
              <a:ext uri="{FF2B5EF4-FFF2-40B4-BE49-F238E27FC236}">
                <a16:creationId xmlns:a16="http://schemas.microsoft.com/office/drawing/2014/main" id="{7EA320CB-8507-0911-E48F-CC2F8685B9DE}"/>
              </a:ext>
            </a:extLst>
          </p:cNvPr>
          <p:cNvPicPr>
            <a:picLocks noChangeAspect="1"/>
          </p:cNvPicPr>
          <p:nvPr/>
        </p:nvPicPr>
        <p:blipFill>
          <a:blip r:embed="rId2"/>
          <a:stretch>
            <a:fillRect/>
          </a:stretch>
        </p:blipFill>
        <p:spPr>
          <a:xfrm>
            <a:off x="2745092" y="3847029"/>
            <a:ext cx="6545533" cy="2862115"/>
          </a:xfrm>
          <a:prstGeom prst="rect">
            <a:avLst/>
          </a:prstGeom>
        </p:spPr>
      </p:pic>
    </p:spTree>
    <p:extLst>
      <p:ext uri="{BB962C8B-B14F-4D97-AF65-F5344CB8AC3E}">
        <p14:creationId xmlns:p14="http://schemas.microsoft.com/office/powerpoint/2010/main" val="958648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79A26B8-6C4E-452B-ADD3-ED324A7AB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B4167E1-E2B0-4192-8DA2-6967DDFF87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2377" y="614407"/>
            <a:ext cx="5609967" cy="56117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25E6F1E5-A9B9-77B6-E1B3-CC7412D94732}"/>
              </a:ext>
            </a:extLst>
          </p:cNvPr>
          <p:cNvSpPr>
            <a:spLocks noGrp="1"/>
          </p:cNvSpPr>
          <p:nvPr>
            <p:ph type="title"/>
          </p:nvPr>
        </p:nvSpPr>
        <p:spPr>
          <a:xfrm>
            <a:off x="762121" y="960723"/>
            <a:ext cx="4968489" cy="1013800"/>
          </a:xfrm>
        </p:spPr>
        <p:txBody>
          <a:bodyPr>
            <a:normAutofit/>
          </a:bodyPr>
          <a:lstStyle/>
          <a:p>
            <a:r>
              <a:rPr lang="en-IN" b="1" i="0" dirty="0">
                <a:solidFill>
                  <a:srgbClr val="FFFFFF"/>
                </a:solidFill>
                <a:effectLst/>
                <a:latin typeface="Poppins" panose="00000500000000000000" pitchFamily="2" charset="0"/>
              </a:rPr>
              <a:t>the Phases of Compiler</a:t>
            </a:r>
            <a:endParaRPr lang="en-IN" dirty="0">
              <a:solidFill>
                <a:srgbClr val="FFFFFF"/>
              </a:solidFill>
            </a:endParaRPr>
          </a:p>
        </p:txBody>
      </p:sp>
      <p:sp>
        <p:nvSpPr>
          <p:cNvPr id="14" name="Rectangle 13">
            <a:extLst>
              <a:ext uri="{FF2B5EF4-FFF2-40B4-BE49-F238E27FC236}">
                <a16:creationId xmlns:a16="http://schemas.microsoft.com/office/drawing/2014/main" id="{D03E4FEE-2E6A-44AB-B6BA-C1AD0CD6D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560581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0817EB59-13B3-43DA-9B91-A7CC174A6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44318" y="457200"/>
            <a:ext cx="5600007"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BB483DC4-65F4-0A0B-CF79-B315C779A3FB}"/>
              </a:ext>
            </a:extLst>
          </p:cNvPr>
          <p:cNvSpPr>
            <a:spLocks noGrp="1"/>
          </p:cNvSpPr>
          <p:nvPr>
            <p:ph idx="1"/>
          </p:nvPr>
        </p:nvSpPr>
        <p:spPr>
          <a:xfrm>
            <a:off x="783387" y="2254102"/>
            <a:ext cx="4947221" cy="3650344"/>
          </a:xfrm>
        </p:spPr>
        <p:txBody>
          <a:bodyPr>
            <a:normAutofit/>
          </a:bodyPr>
          <a:lstStyle/>
          <a:p>
            <a:pPr marL="0" indent="0">
              <a:buNone/>
            </a:pPr>
            <a:r>
              <a:rPr lang="en-IN" b="0" i="0">
                <a:solidFill>
                  <a:srgbClr val="FFFFFF"/>
                </a:solidFill>
                <a:effectLst/>
                <a:latin typeface="Poppins" panose="00000500000000000000" pitchFamily="2" charset="0"/>
              </a:rPr>
              <a:t>The 6 phases of a compiler are:</a:t>
            </a:r>
          </a:p>
          <a:p>
            <a:pPr>
              <a:buFont typeface="+mj-lt"/>
              <a:buAutoNum type="arabicPeriod"/>
            </a:pPr>
            <a:r>
              <a:rPr lang="en-IN" b="0" i="0">
                <a:solidFill>
                  <a:srgbClr val="FFFFFF"/>
                </a:solidFill>
                <a:effectLst/>
                <a:latin typeface="Poppins" panose="00000500000000000000" pitchFamily="2" charset="0"/>
              </a:rPr>
              <a:t>Lexical Analysis</a:t>
            </a:r>
          </a:p>
          <a:p>
            <a:pPr>
              <a:buFont typeface="+mj-lt"/>
              <a:buAutoNum type="arabicPeriod"/>
            </a:pPr>
            <a:r>
              <a:rPr lang="en-IN" b="0" i="0">
                <a:solidFill>
                  <a:srgbClr val="FFFFFF"/>
                </a:solidFill>
                <a:effectLst/>
                <a:latin typeface="Poppins" panose="00000500000000000000" pitchFamily="2" charset="0"/>
              </a:rPr>
              <a:t>Syntactic Analysis or Parsing</a:t>
            </a:r>
          </a:p>
          <a:p>
            <a:pPr>
              <a:buFont typeface="+mj-lt"/>
              <a:buAutoNum type="arabicPeriod"/>
            </a:pPr>
            <a:r>
              <a:rPr lang="en-IN" b="0" i="0">
                <a:solidFill>
                  <a:srgbClr val="FFFFFF"/>
                </a:solidFill>
                <a:effectLst/>
                <a:latin typeface="Poppins" panose="00000500000000000000" pitchFamily="2" charset="0"/>
              </a:rPr>
              <a:t>Semantic Analysis</a:t>
            </a:r>
          </a:p>
          <a:p>
            <a:pPr>
              <a:buFont typeface="+mj-lt"/>
              <a:buAutoNum type="arabicPeriod"/>
            </a:pPr>
            <a:r>
              <a:rPr lang="en-IN" b="0" i="0">
                <a:solidFill>
                  <a:srgbClr val="FFFFFF"/>
                </a:solidFill>
                <a:effectLst/>
                <a:latin typeface="Poppins" panose="00000500000000000000" pitchFamily="2" charset="0"/>
              </a:rPr>
              <a:t>Intermediate Code Generation</a:t>
            </a:r>
          </a:p>
          <a:p>
            <a:pPr>
              <a:buFont typeface="+mj-lt"/>
              <a:buAutoNum type="arabicPeriod"/>
            </a:pPr>
            <a:r>
              <a:rPr lang="en-IN" b="0" i="0">
                <a:solidFill>
                  <a:srgbClr val="FFFFFF"/>
                </a:solidFill>
                <a:effectLst/>
                <a:latin typeface="Poppins" panose="00000500000000000000" pitchFamily="2" charset="0"/>
              </a:rPr>
              <a:t>Code Optimization</a:t>
            </a:r>
          </a:p>
          <a:p>
            <a:pPr>
              <a:buFont typeface="+mj-lt"/>
              <a:buAutoNum type="arabicPeriod"/>
            </a:pPr>
            <a:r>
              <a:rPr lang="en-IN" b="0" i="0">
                <a:solidFill>
                  <a:srgbClr val="FFFFFF"/>
                </a:solidFill>
                <a:effectLst/>
                <a:latin typeface="Poppins" panose="00000500000000000000" pitchFamily="2" charset="0"/>
              </a:rPr>
              <a:t>Code Generation</a:t>
            </a:r>
          </a:p>
          <a:p>
            <a:pPr marL="0" indent="0">
              <a:buNone/>
            </a:pPr>
            <a:endParaRPr lang="en-IN">
              <a:solidFill>
                <a:srgbClr val="FFFFFF"/>
              </a:solidFill>
            </a:endParaRPr>
          </a:p>
        </p:txBody>
      </p:sp>
      <p:pic>
        <p:nvPicPr>
          <p:cNvPr id="5" name="Picture 4">
            <a:extLst>
              <a:ext uri="{FF2B5EF4-FFF2-40B4-BE49-F238E27FC236}">
                <a16:creationId xmlns:a16="http://schemas.microsoft.com/office/drawing/2014/main" id="{EFAB32EE-6568-7B87-493A-DD6B5A5590D1}"/>
              </a:ext>
            </a:extLst>
          </p:cNvPr>
          <p:cNvPicPr>
            <a:picLocks noChangeAspect="1"/>
          </p:cNvPicPr>
          <p:nvPr/>
        </p:nvPicPr>
        <p:blipFill>
          <a:blip r:embed="rId2"/>
          <a:stretch>
            <a:fillRect/>
          </a:stretch>
        </p:blipFill>
        <p:spPr>
          <a:xfrm>
            <a:off x="6096000" y="741548"/>
            <a:ext cx="5817347" cy="5357489"/>
          </a:xfrm>
          <a:prstGeom prst="rect">
            <a:avLst/>
          </a:prstGeom>
        </p:spPr>
      </p:pic>
    </p:spTree>
    <p:extLst>
      <p:ext uri="{BB962C8B-B14F-4D97-AF65-F5344CB8AC3E}">
        <p14:creationId xmlns:p14="http://schemas.microsoft.com/office/powerpoint/2010/main" val="1259250181"/>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lexical analysis</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2180496"/>
            <a:ext cx="11029615" cy="3975348"/>
          </a:xfrm>
        </p:spPr>
        <p:txBody>
          <a:bodyPr>
            <a:normAutofit/>
          </a:bodyPr>
          <a:lstStyle/>
          <a:p>
            <a:pPr algn="just">
              <a:lnSpc>
                <a:spcPct val="150000"/>
              </a:lnSpc>
            </a:pPr>
            <a:r>
              <a:rPr lang="en-IN" sz="2000" b="0" i="0" dirty="0">
                <a:solidFill>
                  <a:srgbClr val="444444"/>
                </a:solidFill>
                <a:effectLst/>
                <a:latin typeface="Poppins" panose="00000500000000000000" pitchFamily="2" charset="0"/>
              </a:rPr>
              <a:t>Lexical analysis or Lexical </a:t>
            </a:r>
            <a:r>
              <a:rPr lang="en-IN" sz="2000" b="0" i="0" dirty="0" err="1">
                <a:solidFill>
                  <a:srgbClr val="444444"/>
                </a:solidFill>
                <a:effectLst/>
                <a:latin typeface="Poppins" panose="00000500000000000000" pitchFamily="2" charset="0"/>
              </a:rPr>
              <a:t>analyzer</a:t>
            </a:r>
            <a:r>
              <a:rPr lang="en-IN" sz="2000" b="0" i="0" dirty="0">
                <a:solidFill>
                  <a:srgbClr val="444444"/>
                </a:solidFill>
                <a:effectLst/>
                <a:latin typeface="Poppins" panose="00000500000000000000" pitchFamily="2" charset="0"/>
              </a:rPr>
              <a:t> is the initial stage or phase of the compiler. </a:t>
            </a:r>
          </a:p>
          <a:p>
            <a:pPr algn="just">
              <a:lnSpc>
                <a:spcPct val="150000"/>
              </a:lnSpc>
            </a:pPr>
            <a:r>
              <a:rPr lang="en-IN" sz="2000" b="0" i="0" dirty="0">
                <a:solidFill>
                  <a:srgbClr val="444444"/>
                </a:solidFill>
                <a:effectLst/>
                <a:latin typeface="Poppins" panose="00000500000000000000" pitchFamily="2" charset="0"/>
              </a:rPr>
              <a:t>This phase scans the source code and transforms the input program into a series of a token.</a:t>
            </a:r>
          </a:p>
          <a:p>
            <a:pPr algn="just">
              <a:lnSpc>
                <a:spcPct val="150000"/>
              </a:lnSpc>
            </a:pPr>
            <a:r>
              <a:rPr lang="en-IN" sz="2000" b="0" i="0" dirty="0">
                <a:solidFill>
                  <a:srgbClr val="444444"/>
                </a:solidFill>
                <a:effectLst/>
                <a:latin typeface="Poppins" panose="00000500000000000000" pitchFamily="2" charset="0"/>
              </a:rPr>
              <a:t>A token is basically the arrangement of characters that defines a unit of information in the source code.</a:t>
            </a:r>
          </a:p>
          <a:p>
            <a:pPr marL="0" indent="0" algn="just">
              <a:lnSpc>
                <a:spcPct val="150000"/>
              </a:lnSpc>
              <a:buNone/>
            </a:pPr>
            <a:r>
              <a:rPr lang="en-IN" sz="2000" b="1" i="0" dirty="0">
                <a:solidFill>
                  <a:srgbClr val="444444"/>
                </a:solidFill>
                <a:effectLst/>
                <a:latin typeface="Poppins" panose="00000500000000000000" pitchFamily="2" charset="0"/>
              </a:rPr>
              <a:t>NOTE:</a:t>
            </a:r>
            <a:r>
              <a:rPr lang="en-IN" sz="2000" b="0" i="0" dirty="0">
                <a:solidFill>
                  <a:srgbClr val="444444"/>
                </a:solidFill>
                <a:effectLst/>
                <a:latin typeface="Poppins" panose="00000500000000000000" pitchFamily="2" charset="0"/>
              </a:rPr>
              <a:t> In computer science, a program that executes the process of lexical analysis is called a scanner, tokenizer, or </a:t>
            </a:r>
            <a:r>
              <a:rPr lang="en-IN" sz="2000" b="0" i="0" dirty="0" err="1">
                <a:solidFill>
                  <a:srgbClr val="444444"/>
                </a:solidFill>
                <a:effectLst/>
                <a:latin typeface="Poppins" panose="00000500000000000000" pitchFamily="2" charset="0"/>
              </a:rPr>
              <a:t>lexer</a:t>
            </a:r>
            <a:r>
              <a:rPr lang="en-IN" sz="2000" b="0" i="0" dirty="0">
                <a:solidFill>
                  <a:srgbClr val="444444"/>
                </a:solidFill>
                <a:effectLst/>
                <a:latin typeface="Poppins" panose="00000500000000000000" pitchFamily="2" charset="0"/>
              </a:rPr>
              <a:t>.</a:t>
            </a:r>
          </a:p>
          <a:p>
            <a:pPr marL="0" indent="0" algn="just">
              <a:lnSpc>
                <a:spcPct val="150000"/>
              </a:lnSpc>
              <a:buNone/>
            </a:pPr>
            <a:endParaRPr lang="en-IN" sz="2000" dirty="0"/>
          </a:p>
        </p:txBody>
      </p:sp>
    </p:spTree>
    <p:extLst>
      <p:ext uri="{BB962C8B-B14F-4D97-AF65-F5344CB8AC3E}">
        <p14:creationId xmlns:p14="http://schemas.microsoft.com/office/powerpoint/2010/main" val="1406880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CA1F7-B8D9-9A53-0B19-312D2AEF8779}"/>
              </a:ext>
            </a:extLst>
          </p:cNvPr>
          <p:cNvSpPr>
            <a:spLocks noGrp="1"/>
          </p:cNvSpPr>
          <p:nvPr>
            <p:ph type="title"/>
          </p:nvPr>
        </p:nvSpPr>
        <p:spPr>
          <a:xfrm>
            <a:off x="581192" y="702156"/>
            <a:ext cx="11029616" cy="722607"/>
          </a:xfrm>
        </p:spPr>
        <p:txBody>
          <a:bodyPr/>
          <a:lstStyle/>
          <a:p>
            <a:r>
              <a:rPr lang="en-IN" b="0" i="0" dirty="0">
                <a:solidFill>
                  <a:srgbClr val="FFC000"/>
                </a:solidFill>
                <a:effectLst/>
                <a:latin typeface="Poppins" panose="00000500000000000000" pitchFamily="2" charset="0"/>
              </a:rPr>
              <a:t>Roles and Responsibilities of Lexical Analyzer</a:t>
            </a:r>
            <a:endParaRPr lang="en-IN" dirty="0">
              <a:solidFill>
                <a:srgbClr val="FFC000"/>
              </a:solidFill>
            </a:endParaRPr>
          </a:p>
        </p:txBody>
      </p:sp>
      <p:sp>
        <p:nvSpPr>
          <p:cNvPr id="3" name="Content Placeholder 2">
            <a:extLst>
              <a:ext uri="{FF2B5EF4-FFF2-40B4-BE49-F238E27FC236}">
                <a16:creationId xmlns:a16="http://schemas.microsoft.com/office/drawing/2014/main" id="{84CFC71C-0176-300D-4A50-2A8977E824DD}"/>
              </a:ext>
            </a:extLst>
          </p:cNvPr>
          <p:cNvSpPr>
            <a:spLocks noGrp="1"/>
          </p:cNvSpPr>
          <p:nvPr>
            <p:ph idx="1"/>
          </p:nvPr>
        </p:nvSpPr>
        <p:spPr>
          <a:xfrm>
            <a:off x="581192" y="2180496"/>
            <a:ext cx="11029615" cy="2210751"/>
          </a:xfrm>
        </p:spPr>
        <p:txBody>
          <a:bodyPr>
            <a:normAutofit/>
          </a:bodyPr>
          <a:lstStyle/>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It is accountable for terminating the comments and white spaces from the source program.</a:t>
            </a:r>
          </a:p>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It helps in identifying the tokens.</a:t>
            </a:r>
          </a:p>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Categorization of lexical units.</a:t>
            </a:r>
          </a:p>
        </p:txBody>
      </p:sp>
      <p:pic>
        <p:nvPicPr>
          <p:cNvPr id="5" name="Picture 4">
            <a:extLst>
              <a:ext uri="{FF2B5EF4-FFF2-40B4-BE49-F238E27FC236}">
                <a16:creationId xmlns:a16="http://schemas.microsoft.com/office/drawing/2014/main" id="{67561E54-58F5-B882-C5D0-28A3CEB5B04F}"/>
              </a:ext>
            </a:extLst>
          </p:cNvPr>
          <p:cNvPicPr>
            <a:picLocks noChangeAspect="1"/>
          </p:cNvPicPr>
          <p:nvPr/>
        </p:nvPicPr>
        <p:blipFill>
          <a:blip r:embed="rId2"/>
          <a:stretch>
            <a:fillRect/>
          </a:stretch>
        </p:blipFill>
        <p:spPr>
          <a:xfrm>
            <a:off x="2987877" y="4391247"/>
            <a:ext cx="6772811" cy="2221762"/>
          </a:xfrm>
          <a:prstGeom prst="rect">
            <a:avLst/>
          </a:prstGeom>
        </p:spPr>
      </p:pic>
    </p:spTree>
    <p:extLst>
      <p:ext uri="{BB962C8B-B14F-4D97-AF65-F5344CB8AC3E}">
        <p14:creationId xmlns:p14="http://schemas.microsoft.com/office/powerpoint/2010/main" val="221677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syntax analysis</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978476"/>
            <a:ext cx="11029615" cy="3348435"/>
          </a:xfrm>
        </p:spPr>
        <p:txBody>
          <a:bodyPr>
            <a:normAutofit/>
          </a:bodyPr>
          <a:lstStyle/>
          <a:p>
            <a:pPr marL="0" indent="0" algn="just">
              <a:lnSpc>
                <a:spcPct val="150000"/>
              </a:lnSpc>
              <a:buNone/>
            </a:pPr>
            <a:r>
              <a:rPr lang="en-IN" sz="2000" b="0" i="0" dirty="0">
                <a:solidFill>
                  <a:srgbClr val="444444"/>
                </a:solidFill>
                <a:effectLst/>
                <a:latin typeface="Poppins" panose="00000500000000000000" pitchFamily="2" charset="0"/>
              </a:rPr>
              <a:t>In the compilation procedure, the Syntax analysis is the second stage. Here the provided input string is scanned for the validation of the structure of the standard grammar. Basically, in the second phase, it analyses the syntactical structure and inspects if the given input is correct or not in terms of programming syntax.</a:t>
            </a:r>
          </a:p>
          <a:p>
            <a:pPr marL="0" indent="0" algn="just">
              <a:lnSpc>
                <a:spcPct val="150000"/>
              </a:lnSpc>
              <a:buNone/>
            </a:pPr>
            <a:r>
              <a:rPr lang="en-IN" sz="2000" b="0" i="0" dirty="0">
                <a:solidFill>
                  <a:srgbClr val="444444"/>
                </a:solidFill>
                <a:effectLst/>
                <a:latin typeface="Poppins" panose="00000500000000000000" pitchFamily="2" charset="0"/>
              </a:rPr>
              <a:t>It accepts tokens as input and provides a parse tree as output. It is also known as parsing in a compiler.</a:t>
            </a:r>
            <a:endParaRPr lang="en-IN" sz="2000" dirty="0"/>
          </a:p>
        </p:txBody>
      </p:sp>
    </p:spTree>
    <p:extLst>
      <p:ext uri="{BB962C8B-B14F-4D97-AF65-F5344CB8AC3E}">
        <p14:creationId xmlns:p14="http://schemas.microsoft.com/office/powerpoint/2010/main" val="235500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DDB9E1-AB12-462E-8E0D-83CA31C6E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14040EB-4842-44D5-9380-BDF41FB7B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803189" y="1209184"/>
            <a:ext cx="3089189" cy="4734416"/>
          </a:xfrm>
        </p:spPr>
        <p:txBody>
          <a:bodyPr anchor="ctr">
            <a:normAutofit/>
          </a:bodyPr>
          <a:lstStyle/>
          <a:p>
            <a:r>
              <a:rPr lang="en-IN" b="0" i="0">
                <a:solidFill>
                  <a:srgbClr val="FFFFFF"/>
                </a:solidFill>
                <a:effectLst/>
                <a:latin typeface="Poppins" panose="00000500000000000000" pitchFamily="2" charset="0"/>
              </a:rPr>
              <a:t>Roles and Responsibilities of  </a:t>
            </a:r>
            <a:r>
              <a:rPr lang="en-IN">
                <a:solidFill>
                  <a:srgbClr val="FFFFFF"/>
                </a:solidFill>
              </a:rPr>
              <a:t>syntax analyzer</a:t>
            </a:r>
          </a:p>
        </p:txBody>
      </p:sp>
      <p:sp>
        <p:nvSpPr>
          <p:cNvPr id="14" name="Rectangle 13">
            <a:extLst>
              <a:ext uri="{FF2B5EF4-FFF2-40B4-BE49-F238E27FC236}">
                <a16:creationId xmlns:a16="http://schemas.microsoft.com/office/drawing/2014/main" id="{0C076E08-C160-41E7-8D09-E2436B59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6" name="Rectangle 15">
            <a:extLst>
              <a:ext uri="{FF2B5EF4-FFF2-40B4-BE49-F238E27FC236}">
                <a16:creationId xmlns:a16="http://schemas.microsoft.com/office/drawing/2014/main" id="{25A65B62-07C4-4876-A101-9C85F48A0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8" name="Rectangle 17">
            <a:extLst>
              <a:ext uri="{FF2B5EF4-FFF2-40B4-BE49-F238E27FC236}">
                <a16:creationId xmlns:a16="http://schemas.microsoft.com/office/drawing/2014/main" id="{D02BCE7C-4E97-4627-9FD1-DD7B633E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4561870" y="723900"/>
            <a:ext cx="7183597" cy="2705100"/>
          </a:xfrm>
        </p:spPr>
        <p:txBody>
          <a:bodyPr>
            <a:normAutofit/>
          </a:bodyPr>
          <a:lstStyle/>
          <a:p>
            <a:pPr>
              <a:buFont typeface="Arial" panose="020B0604020202020204" pitchFamily="34" charset="0"/>
              <a:buChar char="•"/>
            </a:pPr>
            <a:r>
              <a:rPr lang="en-IN" b="0" i="0" dirty="0">
                <a:effectLst/>
                <a:latin typeface="Poppins" panose="00000500000000000000" pitchFamily="2" charset="0"/>
              </a:rPr>
              <a:t>Note syntax errors.</a:t>
            </a:r>
          </a:p>
          <a:p>
            <a:pPr>
              <a:buFont typeface="Arial" panose="020B0604020202020204" pitchFamily="34" charset="0"/>
              <a:buChar char="•"/>
            </a:pPr>
            <a:r>
              <a:rPr lang="en-IN" b="0" i="0" dirty="0">
                <a:effectLst/>
                <a:latin typeface="Poppins" panose="00000500000000000000" pitchFamily="2" charset="0"/>
              </a:rPr>
              <a:t>Helps in building a parse tree.</a:t>
            </a:r>
          </a:p>
          <a:p>
            <a:pPr>
              <a:buFont typeface="Arial" panose="020B0604020202020204" pitchFamily="34" charset="0"/>
              <a:buChar char="•"/>
            </a:pPr>
            <a:r>
              <a:rPr lang="en-IN" b="0" i="0" dirty="0">
                <a:effectLst/>
                <a:latin typeface="Poppins" panose="00000500000000000000" pitchFamily="2" charset="0"/>
              </a:rPr>
              <a:t>Acquire tokens from the lexical </a:t>
            </a:r>
            <a:r>
              <a:rPr lang="en-IN" b="0" i="0" dirty="0" err="1">
                <a:effectLst/>
                <a:latin typeface="Poppins" panose="00000500000000000000" pitchFamily="2" charset="0"/>
              </a:rPr>
              <a:t>analyzer</a:t>
            </a:r>
            <a:r>
              <a:rPr lang="en-IN" b="0" i="0" dirty="0">
                <a:effectLst/>
                <a:latin typeface="Poppins" panose="00000500000000000000" pitchFamily="2" charset="0"/>
              </a:rPr>
              <a:t>.</a:t>
            </a:r>
          </a:p>
          <a:p>
            <a:pPr>
              <a:buFont typeface="Arial" panose="020B0604020202020204" pitchFamily="34" charset="0"/>
              <a:buChar char="•"/>
            </a:pPr>
            <a:r>
              <a:rPr lang="en-IN" b="0" i="0" dirty="0">
                <a:effectLst/>
                <a:latin typeface="Poppins" panose="00000500000000000000" pitchFamily="2" charset="0"/>
              </a:rPr>
              <a:t>Scan the syntax errors, if any.</a:t>
            </a:r>
          </a:p>
        </p:txBody>
      </p:sp>
      <p:pic>
        <p:nvPicPr>
          <p:cNvPr id="5" name="Picture 4">
            <a:extLst>
              <a:ext uri="{FF2B5EF4-FFF2-40B4-BE49-F238E27FC236}">
                <a16:creationId xmlns:a16="http://schemas.microsoft.com/office/drawing/2014/main" id="{7E7853B4-5354-0A86-B2FD-E8D506FDC326}"/>
              </a:ext>
            </a:extLst>
          </p:cNvPr>
          <p:cNvPicPr>
            <a:picLocks noChangeAspect="1"/>
          </p:cNvPicPr>
          <p:nvPr/>
        </p:nvPicPr>
        <p:blipFill>
          <a:blip r:embed="rId2"/>
          <a:stretch>
            <a:fillRect/>
          </a:stretch>
        </p:blipFill>
        <p:spPr>
          <a:xfrm>
            <a:off x="4353351" y="3557232"/>
            <a:ext cx="7544482" cy="2492694"/>
          </a:xfrm>
          <a:prstGeom prst="rect">
            <a:avLst/>
          </a:prstGeom>
        </p:spPr>
      </p:pic>
    </p:spTree>
    <p:extLst>
      <p:ext uri="{BB962C8B-B14F-4D97-AF65-F5344CB8AC3E}">
        <p14:creationId xmlns:p14="http://schemas.microsoft.com/office/powerpoint/2010/main" val="22148859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Semantic analysis</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978476"/>
            <a:ext cx="11029615" cy="3826902"/>
          </a:xfrm>
        </p:spPr>
        <p:txBody>
          <a:bodyPr>
            <a:normAutofit/>
          </a:bodyPr>
          <a:lstStyle/>
          <a:p>
            <a:pPr algn="just">
              <a:lnSpc>
                <a:spcPct val="160000"/>
              </a:lnSpc>
              <a:buFont typeface="Wingdings" panose="05000000000000000000" pitchFamily="2" charset="2"/>
              <a:buChar char="§"/>
            </a:pPr>
            <a:r>
              <a:rPr lang="en-IN" sz="2000" b="0" i="0" dirty="0">
                <a:solidFill>
                  <a:srgbClr val="444444"/>
                </a:solidFill>
                <a:effectLst/>
                <a:latin typeface="Poppins" panose="00000500000000000000" pitchFamily="2" charset="0"/>
              </a:rPr>
              <a:t>In the process of compilation, semantic analysis is the third phase. </a:t>
            </a:r>
          </a:p>
          <a:p>
            <a:pPr algn="just">
              <a:lnSpc>
                <a:spcPct val="160000"/>
              </a:lnSpc>
              <a:buFont typeface="Wingdings" panose="05000000000000000000" pitchFamily="2" charset="2"/>
              <a:buChar char="§"/>
            </a:pPr>
            <a:r>
              <a:rPr lang="en-IN" sz="2000" b="0" i="0" dirty="0">
                <a:solidFill>
                  <a:srgbClr val="444444"/>
                </a:solidFill>
                <a:effectLst/>
                <a:latin typeface="Poppins" panose="00000500000000000000" pitchFamily="2" charset="0"/>
              </a:rPr>
              <a:t>It scans whether the parse tree follows the guidelines of language. </a:t>
            </a:r>
          </a:p>
          <a:p>
            <a:pPr algn="just">
              <a:lnSpc>
                <a:spcPct val="160000"/>
              </a:lnSpc>
              <a:buFont typeface="Wingdings" panose="05000000000000000000" pitchFamily="2" charset="2"/>
              <a:buChar char="§"/>
            </a:pPr>
            <a:r>
              <a:rPr lang="en-IN" sz="2000" b="0" i="0" dirty="0">
                <a:solidFill>
                  <a:srgbClr val="444444"/>
                </a:solidFill>
                <a:effectLst/>
                <a:latin typeface="Poppins" panose="00000500000000000000" pitchFamily="2" charset="0"/>
              </a:rPr>
              <a:t>It also helps in keeping track of identifiers and expressions. </a:t>
            </a:r>
          </a:p>
          <a:p>
            <a:pPr algn="just">
              <a:lnSpc>
                <a:spcPct val="160000"/>
              </a:lnSpc>
              <a:buFont typeface="Wingdings" panose="05000000000000000000" pitchFamily="2" charset="2"/>
              <a:buChar char="§"/>
            </a:pPr>
            <a:r>
              <a:rPr lang="en-IN" sz="2000" b="0" i="0" dirty="0">
                <a:solidFill>
                  <a:srgbClr val="444444"/>
                </a:solidFill>
                <a:effectLst/>
                <a:latin typeface="Poppins" panose="00000500000000000000" pitchFamily="2" charset="0"/>
              </a:rPr>
              <a:t>In simple words, we can say that a semantic </a:t>
            </a:r>
            <a:r>
              <a:rPr lang="en-IN" sz="2000" b="0" i="0" dirty="0" err="1">
                <a:solidFill>
                  <a:srgbClr val="444444"/>
                </a:solidFill>
                <a:effectLst/>
                <a:latin typeface="Poppins" panose="00000500000000000000" pitchFamily="2" charset="0"/>
              </a:rPr>
              <a:t>analyzer</a:t>
            </a:r>
            <a:r>
              <a:rPr lang="en-IN" sz="2000" b="0" i="0" dirty="0">
                <a:solidFill>
                  <a:srgbClr val="444444"/>
                </a:solidFill>
                <a:effectLst/>
                <a:latin typeface="Poppins" panose="00000500000000000000" pitchFamily="2" charset="0"/>
              </a:rPr>
              <a:t> defines the validity of the parse tree, and the annotated syntax tree comes as an output.</a:t>
            </a:r>
          </a:p>
          <a:p>
            <a:pPr marL="0" indent="0" algn="just">
              <a:lnSpc>
                <a:spcPct val="160000"/>
              </a:lnSpc>
              <a:buNone/>
            </a:pPr>
            <a:endParaRPr lang="en-IN" sz="2000" dirty="0"/>
          </a:p>
        </p:txBody>
      </p:sp>
    </p:spTree>
    <p:extLst>
      <p:ext uri="{BB962C8B-B14F-4D97-AF65-F5344CB8AC3E}">
        <p14:creationId xmlns:p14="http://schemas.microsoft.com/office/powerpoint/2010/main" val="547199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DDB9E1-AB12-462E-8E0D-83CA31C6E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214040EB-4842-44D5-9380-BDF41FB7B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803189" y="1209184"/>
            <a:ext cx="3089189" cy="4734416"/>
          </a:xfrm>
        </p:spPr>
        <p:txBody>
          <a:bodyPr anchor="ctr">
            <a:normAutofit/>
          </a:bodyPr>
          <a:lstStyle/>
          <a:p>
            <a:r>
              <a:rPr lang="en-IN" b="0" i="0" dirty="0">
                <a:solidFill>
                  <a:srgbClr val="FFFFFF"/>
                </a:solidFill>
                <a:effectLst/>
                <a:latin typeface="Poppins" panose="00000500000000000000" pitchFamily="2" charset="0"/>
              </a:rPr>
              <a:t>Roles and Responsibilities of  </a:t>
            </a:r>
            <a:r>
              <a:rPr lang="en-IN" dirty="0">
                <a:solidFill>
                  <a:srgbClr val="FFFFFF"/>
                </a:solidFill>
              </a:rPr>
              <a:t>semantic </a:t>
            </a:r>
            <a:r>
              <a:rPr lang="en-IN" dirty="0" err="1">
                <a:solidFill>
                  <a:srgbClr val="FFFFFF"/>
                </a:solidFill>
              </a:rPr>
              <a:t>analyzer</a:t>
            </a:r>
            <a:endParaRPr lang="en-IN" dirty="0">
              <a:solidFill>
                <a:srgbClr val="FFFFFF"/>
              </a:solidFill>
            </a:endParaRPr>
          </a:p>
        </p:txBody>
      </p:sp>
      <p:sp>
        <p:nvSpPr>
          <p:cNvPr id="14" name="Rectangle 13">
            <a:extLst>
              <a:ext uri="{FF2B5EF4-FFF2-40B4-BE49-F238E27FC236}">
                <a16:creationId xmlns:a16="http://schemas.microsoft.com/office/drawing/2014/main" id="{0C076E08-C160-41E7-8D09-E2436B59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6" name="Rectangle 15">
            <a:extLst>
              <a:ext uri="{FF2B5EF4-FFF2-40B4-BE49-F238E27FC236}">
                <a16:creationId xmlns:a16="http://schemas.microsoft.com/office/drawing/2014/main" id="{25A65B62-07C4-4876-A101-9C85F48A0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D02BCE7C-4E97-4627-9FD1-DD7B633E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4546967" y="1936012"/>
            <a:ext cx="7183597" cy="2705100"/>
          </a:xfrm>
        </p:spPr>
        <p:txBody>
          <a:bodyPr>
            <a:normAutofit/>
          </a:bodyPr>
          <a:lstStyle/>
          <a:p>
            <a:pPr algn="l">
              <a:buFont typeface="Arial" panose="020B0604020202020204" pitchFamily="34" charset="0"/>
              <a:buChar char="•"/>
            </a:pPr>
            <a:r>
              <a:rPr lang="en-IN" sz="2000" b="0" i="0" dirty="0">
                <a:solidFill>
                  <a:srgbClr val="444444"/>
                </a:solidFill>
                <a:effectLst/>
                <a:latin typeface="Poppins" panose="00000500000000000000" pitchFamily="2" charset="0"/>
              </a:rPr>
              <a:t>Saving collected data to symbol tables or syntax trees.</a:t>
            </a:r>
          </a:p>
          <a:p>
            <a:pPr algn="l">
              <a:buFont typeface="Arial" panose="020B0604020202020204" pitchFamily="34" charset="0"/>
              <a:buChar char="•"/>
            </a:pPr>
            <a:r>
              <a:rPr lang="en-IN" sz="2000" b="0" i="0" dirty="0">
                <a:solidFill>
                  <a:srgbClr val="444444"/>
                </a:solidFill>
                <a:effectLst/>
                <a:latin typeface="Poppins" panose="00000500000000000000" pitchFamily="2" charset="0"/>
              </a:rPr>
              <a:t>It notifies semantic errors.</a:t>
            </a:r>
          </a:p>
          <a:p>
            <a:pPr algn="l">
              <a:buFont typeface="Arial" panose="020B0604020202020204" pitchFamily="34" charset="0"/>
              <a:buChar char="•"/>
            </a:pPr>
            <a:r>
              <a:rPr lang="en-IN" sz="2000" b="0" i="0" dirty="0">
                <a:solidFill>
                  <a:srgbClr val="444444"/>
                </a:solidFill>
                <a:effectLst/>
                <a:latin typeface="Poppins" panose="00000500000000000000" pitchFamily="2" charset="0"/>
              </a:rPr>
              <a:t>Scanning for semantic errors.</a:t>
            </a:r>
          </a:p>
        </p:txBody>
      </p:sp>
    </p:spTree>
    <p:extLst>
      <p:ext uri="{BB962C8B-B14F-4D97-AF65-F5344CB8AC3E}">
        <p14:creationId xmlns:p14="http://schemas.microsoft.com/office/powerpoint/2010/main" val="2327703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Intermediate code generation</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828800"/>
            <a:ext cx="11029615" cy="2551814"/>
          </a:xfrm>
        </p:spPr>
        <p:txBody>
          <a:bodyPr>
            <a:normAutofit lnSpcReduction="10000"/>
          </a:bodyPr>
          <a:lstStyle/>
          <a:p>
            <a:pPr algn="just">
              <a:lnSpc>
                <a:spcPct val="160000"/>
              </a:lnSpc>
              <a:buFont typeface="Wingdings" panose="05000000000000000000" pitchFamily="2" charset="2"/>
              <a:buChar char="§"/>
            </a:pPr>
            <a:r>
              <a:rPr lang="en-IN" sz="2000" b="0" i="0" dirty="0">
                <a:solidFill>
                  <a:srgbClr val="444444"/>
                </a:solidFill>
                <a:effectLst/>
                <a:latin typeface="Poppins" panose="00000500000000000000" pitchFamily="2" charset="0"/>
              </a:rPr>
              <a:t>The parse tree is semantically confirmed; now, an intermediate code generator develops three address codes. </a:t>
            </a:r>
          </a:p>
          <a:p>
            <a:pPr algn="just">
              <a:lnSpc>
                <a:spcPct val="160000"/>
              </a:lnSpc>
              <a:buFont typeface="Wingdings" panose="05000000000000000000" pitchFamily="2" charset="2"/>
              <a:buChar char="§"/>
            </a:pPr>
            <a:r>
              <a:rPr lang="en-IN" sz="2000" b="0" i="0" dirty="0">
                <a:solidFill>
                  <a:srgbClr val="444444"/>
                </a:solidFill>
                <a:effectLst/>
                <a:latin typeface="Poppins" panose="00000500000000000000" pitchFamily="2" charset="0"/>
              </a:rPr>
              <a:t>A middle-level language code generated by a compiler at the time of the translation of a source program into the object code is known as intermediate code or text.</a:t>
            </a:r>
            <a:endParaRPr lang="en-IN" sz="2000" dirty="0"/>
          </a:p>
        </p:txBody>
      </p:sp>
      <p:sp>
        <p:nvSpPr>
          <p:cNvPr id="5" name="TextBox 4">
            <a:extLst>
              <a:ext uri="{FF2B5EF4-FFF2-40B4-BE49-F238E27FC236}">
                <a16:creationId xmlns:a16="http://schemas.microsoft.com/office/drawing/2014/main" id="{3AE308FD-9D96-EC92-20C5-F88D8D1CA930}"/>
              </a:ext>
            </a:extLst>
          </p:cNvPr>
          <p:cNvSpPr txBox="1"/>
          <p:nvPr/>
        </p:nvSpPr>
        <p:spPr>
          <a:xfrm>
            <a:off x="784151" y="4990397"/>
            <a:ext cx="10826656" cy="1165447"/>
          </a:xfrm>
          <a:prstGeom prst="rect">
            <a:avLst/>
          </a:prstGeom>
          <a:noFill/>
        </p:spPr>
        <p:txBody>
          <a:bodyPr wrap="square">
            <a:spAutoFit/>
          </a:bodyPr>
          <a:lstStyle/>
          <a:p>
            <a:pPr marL="342900" indent="-342900" algn="just">
              <a:lnSpc>
                <a:spcPct val="150000"/>
              </a:lnSpc>
              <a:buFont typeface="Wingdings" panose="05000000000000000000" pitchFamily="2" charset="2"/>
              <a:buChar char="§"/>
            </a:pPr>
            <a:r>
              <a:rPr lang="en-IN" sz="1600" b="0" dirty="0">
                <a:solidFill>
                  <a:schemeClr val="accent1">
                    <a:lumMod val="75000"/>
                    <a:lumOff val="25000"/>
                  </a:schemeClr>
                </a:solidFill>
                <a:effectLst/>
                <a:latin typeface="Poppins" panose="00000500000000000000" pitchFamily="2" charset="0"/>
              </a:rPr>
              <a:t>A code that is neither high-level nor machine code, but a middle-level code is an intermediate code.</a:t>
            </a:r>
          </a:p>
          <a:p>
            <a:pPr marL="342900" indent="-342900" algn="just">
              <a:lnSpc>
                <a:spcPct val="150000"/>
              </a:lnSpc>
              <a:buFont typeface="Wingdings" panose="05000000000000000000" pitchFamily="2" charset="2"/>
              <a:buChar char="§"/>
            </a:pPr>
            <a:r>
              <a:rPr lang="en-IN" sz="1600" b="0" dirty="0">
                <a:solidFill>
                  <a:schemeClr val="accent1">
                    <a:lumMod val="75000"/>
                    <a:lumOff val="25000"/>
                  </a:schemeClr>
                </a:solidFill>
                <a:effectLst/>
                <a:latin typeface="Poppins" panose="00000500000000000000" pitchFamily="2" charset="0"/>
              </a:rPr>
              <a:t>We can translate this code to machine code later.</a:t>
            </a:r>
          </a:p>
          <a:p>
            <a:pPr marL="342900" indent="-342900" algn="just">
              <a:lnSpc>
                <a:spcPct val="150000"/>
              </a:lnSpc>
              <a:buFont typeface="Wingdings" panose="05000000000000000000" pitchFamily="2" charset="2"/>
              <a:buChar char="§"/>
            </a:pPr>
            <a:r>
              <a:rPr lang="en-IN" sz="1600" b="0" dirty="0">
                <a:solidFill>
                  <a:schemeClr val="accent1">
                    <a:lumMod val="75000"/>
                    <a:lumOff val="25000"/>
                  </a:schemeClr>
                </a:solidFill>
                <a:effectLst/>
                <a:latin typeface="Poppins" panose="00000500000000000000" pitchFamily="2" charset="0"/>
              </a:rPr>
              <a:t>This stage serves as a bridge or way from analysis to synthesis.</a:t>
            </a:r>
          </a:p>
        </p:txBody>
      </p:sp>
    </p:spTree>
    <p:extLst>
      <p:ext uri="{BB962C8B-B14F-4D97-AF65-F5344CB8AC3E}">
        <p14:creationId xmlns:p14="http://schemas.microsoft.com/office/powerpoint/2010/main" val="1160035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DDB9E1-AB12-462E-8E0D-83CA31C6E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214040EB-4842-44D5-9380-BDF41FB7B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803189" y="1209184"/>
            <a:ext cx="3089189" cy="4734416"/>
          </a:xfrm>
        </p:spPr>
        <p:txBody>
          <a:bodyPr anchor="ctr">
            <a:normAutofit/>
          </a:bodyPr>
          <a:lstStyle/>
          <a:p>
            <a:r>
              <a:rPr lang="en-IN" b="0" i="0" dirty="0">
                <a:solidFill>
                  <a:srgbClr val="FFFFFF"/>
                </a:solidFill>
                <a:effectLst/>
                <a:latin typeface="Poppins" panose="00000500000000000000" pitchFamily="2" charset="0"/>
              </a:rPr>
              <a:t>Roles and Responsibilities </a:t>
            </a:r>
            <a:endParaRPr lang="en-IN" dirty="0">
              <a:solidFill>
                <a:srgbClr val="FFFFFF"/>
              </a:solidFill>
            </a:endParaRPr>
          </a:p>
        </p:txBody>
      </p:sp>
      <p:sp>
        <p:nvSpPr>
          <p:cNvPr id="14" name="Rectangle 13">
            <a:extLst>
              <a:ext uri="{FF2B5EF4-FFF2-40B4-BE49-F238E27FC236}">
                <a16:creationId xmlns:a16="http://schemas.microsoft.com/office/drawing/2014/main" id="{0C076E08-C160-41E7-8D09-E2436B59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6" name="Rectangle 15">
            <a:extLst>
              <a:ext uri="{FF2B5EF4-FFF2-40B4-BE49-F238E27FC236}">
                <a16:creationId xmlns:a16="http://schemas.microsoft.com/office/drawing/2014/main" id="{25A65B62-07C4-4876-A101-9C85F48A0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D02BCE7C-4E97-4627-9FD1-DD7B633E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4450348" y="1776524"/>
            <a:ext cx="7183597" cy="2705100"/>
          </a:xfrm>
        </p:spPr>
        <p:txBody>
          <a:bodyPr>
            <a:normAutofit/>
          </a:bodyPr>
          <a:lstStyle/>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Helps in maintaining the priority ordering of the source language.</a:t>
            </a:r>
          </a:p>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Translate the intermediate code into the machine code.</a:t>
            </a:r>
          </a:p>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Having operands of instructions.</a:t>
            </a:r>
          </a:p>
        </p:txBody>
      </p:sp>
    </p:spTree>
    <p:extLst>
      <p:ext uri="{BB962C8B-B14F-4D97-AF65-F5344CB8AC3E}">
        <p14:creationId xmlns:p14="http://schemas.microsoft.com/office/powerpoint/2010/main" val="4173770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ADDB9E1-AB12-462E-8E0D-83CA31C6E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14040EB-4842-44D5-9380-BDF41FB7B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803189" y="1209184"/>
            <a:ext cx="3089189" cy="4734416"/>
          </a:xfrm>
        </p:spPr>
        <p:txBody>
          <a:bodyPr anchor="ctr">
            <a:normAutofit/>
          </a:bodyPr>
          <a:lstStyle/>
          <a:p>
            <a:r>
              <a:rPr lang="en-IN">
                <a:solidFill>
                  <a:srgbClr val="FFFFFF"/>
                </a:solidFill>
              </a:rPr>
              <a:t>code optimizer</a:t>
            </a:r>
          </a:p>
        </p:txBody>
      </p:sp>
      <p:sp>
        <p:nvSpPr>
          <p:cNvPr id="15" name="Rectangle 14">
            <a:extLst>
              <a:ext uri="{FF2B5EF4-FFF2-40B4-BE49-F238E27FC236}">
                <a16:creationId xmlns:a16="http://schemas.microsoft.com/office/drawing/2014/main" id="{0C076E08-C160-41E7-8D09-E2436B59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7" name="Rectangle 16">
            <a:extLst>
              <a:ext uri="{FF2B5EF4-FFF2-40B4-BE49-F238E27FC236}">
                <a16:creationId xmlns:a16="http://schemas.microsoft.com/office/drawing/2014/main" id="{25A65B62-07C4-4876-A101-9C85F48A0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a:extLst>
              <a:ext uri="{FF2B5EF4-FFF2-40B4-BE49-F238E27FC236}">
                <a16:creationId xmlns:a16="http://schemas.microsoft.com/office/drawing/2014/main" id="{D02BCE7C-4E97-4627-9FD1-DD7B633E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4561870" y="723900"/>
            <a:ext cx="7183597" cy="3252678"/>
          </a:xfrm>
        </p:spPr>
        <p:txBody>
          <a:bodyPr>
            <a:normAutofit/>
          </a:bodyPr>
          <a:lstStyle/>
          <a:p>
            <a:pPr algn="just">
              <a:lnSpc>
                <a:spcPct val="150000"/>
              </a:lnSpc>
              <a:buFont typeface="Wingdings" panose="05000000000000000000" pitchFamily="2" charset="2"/>
              <a:buChar char="§"/>
            </a:pPr>
            <a:r>
              <a:rPr lang="en-IN" b="0" i="0" dirty="0">
                <a:effectLst/>
                <a:latin typeface="Poppins" panose="00000500000000000000" pitchFamily="2" charset="0"/>
              </a:rPr>
              <a:t>Code Optimization phase is totally optional. </a:t>
            </a:r>
          </a:p>
          <a:p>
            <a:pPr algn="just">
              <a:lnSpc>
                <a:spcPct val="150000"/>
              </a:lnSpc>
              <a:buFont typeface="Wingdings" panose="05000000000000000000" pitchFamily="2" charset="2"/>
              <a:buChar char="§"/>
            </a:pPr>
            <a:r>
              <a:rPr lang="en-IN" b="0" i="0" dirty="0">
                <a:effectLst/>
                <a:latin typeface="Poppins" panose="00000500000000000000" pitchFamily="2" charset="0"/>
              </a:rPr>
              <a:t>It is used to enhance the intermediate code. This way, the output of the program is able to run fast and consume less space. </a:t>
            </a:r>
          </a:p>
          <a:p>
            <a:pPr algn="just">
              <a:lnSpc>
                <a:spcPct val="150000"/>
              </a:lnSpc>
              <a:buFont typeface="Wingdings" panose="05000000000000000000" pitchFamily="2" charset="2"/>
              <a:buChar char="§"/>
            </a:pPr>
            <a:r>
              <a:rPr lang="en-IN" b="0" i="0" dirty="0">
                <a:effectLst/>
                <a:latin typeface="Poppins" panose="00000500000000000000" pitchFamily="2" charset="0"/>
              </a:rPr>
              <a:t>To improve the speed of the program, it eliminates the unnecessary strings of the code and organises the sequence of statements.</a:t>
            </a:r>
            <a:endParaRPr lang="en-IN" dirty="0"/>
          </a:p>
        </p:txBody>
      </p:sp>
      <p:pic>
        <p:nvPicPr>
          <p:cNvPr id="6" name="Picture 5" descr="A diagram of a code&#10;&#10;Description automatically generated">
            <a:extLst>
              <a:ext uri="{FF2B5EF4-FFF2-40B4-BE49-F238E27FC236}">
                <a16:creationId xmlns:a16="http://schemas.microsoft.com/office/drawing/2014/main" id="{F3D4A7B8-BCF3-3B18-AFB9-4F36670ACC12}"/>
              </a:ext>
            </a:extLst>
          </p:cNvPr>
          <p:cNvPicPr>
            <a:picLocks noChangeAspect="1"/>
          </p:cNvPicPr>
          <p:nvPr/>
        </p:nvPicPr>
        <p:blipFill>
          <a:blip r:embed="rId2"/>
          <a:stretch>
            <a:fillRect/>
          </a:stretch>
        </p:blipFill>
        <p:spPr>
          <a:xfrm>
            <a:off x="4434688" y="4378760"/>
            <a:ext cx="7487379" cy="2298487"/>
          </a:xfrm>
          <a:prstGeom prst="rect">
            <a:avLst/>
          </a:prstGeom>
        </p:spPr>
      </p:pic>
    </p:spTree>
    <p:extLst>
      <p:ext uri="{BB962C8B-B14F-4D97-AF65-F5344CB8AC3E}">
        <p14:creationId xmlns:p14="http://schemas.microsoft.com/office/powerpoint/2010/main" val="4060191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ADDB9E1-AB12-462E-8E0D-83CA31C6EB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2" name="Rectangle 11">
            <a:extLst>
              <a:ext uri="{FF2B5EF4-FFF2-40B4-BE49-F238E27FC236}">
                <a16:creationId xmlns:a16="http://schemas.microsoft.com/office/drawing/2014/main" id="{214040EB-4842-44D5-9380-BDF41FB7BA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1436"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803189" y="1209184"/>
            <a:ext cx="3089189" cy="4734416"/>
          </a:xfrm>
        </p:spPr>
        <p:txBody>
          <a:bodyPr anchor="ctr">
            <a:normAutofit/>
          </a:bodyPr>
          <a:lstStyle/>
          <a:p>
            <a:r>
              <a:rPr lang="en-IN" b="0" i="0" dirty="0">
                <a:solidFill>
                  <a:srgbClr val="FFFFFF"/>
                </a:solidFill>
                <a:effectLst/>
                <a:latin typeface="Poppins" panose="00000500000000000000" pitchFamily="2" charset="0"/>
              </a:rPr>
              <a:t>Roles and Responsibilities </a:t>
            </a:r>
            <a:endParaRPr lang="en-IN" dirty="0">
              <a:solidFill>
                <a:srgbClr val="FFFFFF"/>
              </a:solidFill>
            </a:endParaRPr>
          </a:p>
        </p:txBody>
      </p:sp>
      <p:sp>
        <p:nvSpPr>
          <p:cNvPr id="14" name="Rectangle 13">
            <a:extLst>
              <a:ext uri="{FF2B5EF4-FFF2-40B4-BE49-F238E27FC236}">
                <a16:creationId xmlns:a16="http://schemas.microsoft.com/office/drawing/2014/main" id="{0C076E08-C160-41E7-8D09-E2436B5917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6" name="Rectangle 15">
            <a:extLst>
              <a:ext uri="{FF2B5EF4-FFF2-40B4-BE49-F238E27FC236}">
                <a16:creationId xmlns:a16="http://schemas.microsoft.com/office/drawing/2014/main" id="{25A65B62-07C4-4876-A101-9C85F48A02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D02BCE7C-4E97-4627-9FD1-DD7B633E55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4450348" y="1776524"/>
            <a:ext cx="7183597" cy="2705100"/>
          </a:xfrm>
        </p:spPr>
        <p:txBody>
          <a:bodyPr>
            <a:normAutofit/>
          </a:bodyPr>
          <a:lstStyle/>
          <a:p>
            <a:pPr algn="l">
              <a:buFont typeface="Arial" panose="020B0604020202020204" pitchFamily="34" charset="0"/>
              <a:buChar char="•"/>
            </a:pPr>
            <a:r>
              <a:rPr lang="en-IN" sz="2000" b="0" i="0" dirty="0">
                <a:solidFill>
                  <a:srgbClr val="444444"/>
                </a:solidFill>
                <a:effectLst/>
                <a:latin typeface="Poppins" panose="00000500000000000000" pitchFamily="2" charset="0"/>
              </a:rPr>
              <a:t>Remove the unused variables and unreachable code.</a:t>
            </a:r>
          </a:p>
          <a:p>
            <a:pPr algn="l">
              <a:buFont typeface="Arial" panose="020B0604020202020204" pitchFamily="34" charset="0"/>
              <a:buChar char="•"/>
            </a:pPr>
            <a:r>
              <a:rPr lang="en-IN" sz="2000" b="0" i="0" dirty="0">
                <a:solidFill>
                  <a:srgbClr val="444444"/>
                </a:solidFill>
                <a:effectLst/>
                <a:latin typeface="Poppins" panose="00000500000000000000" pitchFamily="2" charset="0"/>
              </a:rPr>
              <a:t>Enhance runtime and execution of the program.</a:t>
            </a:r>
          </a:p>
          <a:p>
            <a:pPr algn="l">
              <a:buFont typeface="Arial" panose="020B0604020202020204" pitchFamily="34" charset="0"/>
              <a:buChar char="•"/>
            </a:pPr>
            <a:r>
              <a:rPr lang="en-IN" sz="2000" b="0" i="0" dirty="0">
                <a:solidFill>
                  <a:srgbClr val="444444"/>
                </a:solidFill>
                <a:effectLst/>
                <a:latin typeface="Poppins" panose="00000500000000000000" pitchFamily="2" charset="0"/>
              </a:rPr>
              <a:t>Produce streamlined code from the intermediate expression.</a:t>
            </a:r>
          </a:p>
        </p:txBody>
      </p:sp>
    </p:spTree>
    <p:extLst>
      <p:ext uri="{BB962C8B-B14F-4D97-AF65-F5344CB8AC3E}">
        <p14:creationId xmlns:p14="http://schemas.microsoft.com/office/powerpoint/2010/main" val="70467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code generator</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828799"/>
            <a:ext cx="11029615" cy="4710224"/>
          </a:xfrm>
        </p:spPr>
        <p:txBody>
          <a:bodyPr>
            <a:normAutofit fontScale="92500" lnSpcReduction="10000"/>
          </a:bodyPr>
          <a:lstStyle/>
          <a:p>
            <a:pPr algn="just">
              <a:lnSpc>
                <a:spcPct val="150000"/>
              </a:lnSpc>
            </a:pPr>
            <a:r>
              <a:rPr lang="en-IN" sz="2000" b="0" i="0" dirty="0">
                <a:solidFill>
                  <a:srgbClr val="444444"/>
                </a:solidFill>
                <a:effectLst/>
                <a:latin typeface="Poppins" panose="00000500000000000000" pitchFamily="2" charset="0"/>
              </a:rPr>
              <a:t>The final stage of the compilation process is the code generation process. </a:t>
            </a:r>
          </a:p>
          <a:p>
            <a:pPr algn="just">
              <a:lnSpc>
                <a:spcPct val="150000"/>
              </a:lnSpc>
            </a:pPr>
            <a:r>
              <a:rPr lang="en-IN" sz="2000" b="0" i="0" dirty="0">
                <a:solidFill>
                  <a:srgbClr val="444444"/>
                </a:solidFill>
                <a:effectLst/>
                <a:latin typeface="Poppins" panose="00000500000000000000" pitchFamily="2" charset="0"/>
              </a:rPr>
              <a:t>In this final phase, it tries to acquire the intermediate code as input which is fully optimised and map it to the machine code or language. </a:t>
            </a:r>
          </a:p>
          <a:p>
            <a:pPr algn="just">
              <a:lnSpc>
                <a:spcPct val="150000"/>
              </a:lnSpc>
            </a:pPr>
            <a:r>
              <a:rPr lang="en-IN" sz="2000" b="0" i="0" dirty="0">
                <a:solidFill>
                  <a:srgbClr val="444444"/>
                </a:solidFill>
                <a:effectLst/>
                <a:latin typeface="Poppins" panose="00000500000000000000" pitchFamily="2" charset="0"/>
              </a:rPr>
              <a:t>Later, the code generator helps in translating the intermediate code into the machine code.</a:t>
            </a:r>
          </a:p>
          <a:p>
            <a:pPr marL="0" indent="0" algn="just">
              <a:lnSpc>
                <a:spcPct val="150000"/>
              </a:lnSpc>
              <a:buNone/>
            </a:pPr>
            <a:endParaRPr lang="en-IN" sz="2000" b="1" i="0" dirty="0">
              <a:solidFill>
                <a:srgbClr val="444444"/>
              </a:solidFill>
              <a:effectLst/>
              <a:latin typeface="Poppins" panose="00000500000000000000" pitchFamily="2" charset="0"/>
            </a:endParaRPr>
          </a:p>
          <a:p>
            <a:pPr marL="0" indent="0" algn="just">
              <a:lnSpc>
                <a:spcPct val="150000"/>
              </a:lnSpc>
              <a:buNone/>
            </a:pPr>
            <a:r>
              <a:rPr lang="en-IN" sz="2000" b="1" i="0" dirty="0">
                <a:solidFill>
                  <a:srgbClr val="444444"/>
                </a:solidFill>
                <a:effectLst/>
                <a:latin typeface="Poppins" panose="00000500000000000000" pitchFamily="2" charset="0"/>
              </a:rPr>
              <a:t>Roles and Responsibilities:</a:t>
            </a:r>
            <a:endParaRPr lang="en-IN" sz="2000" b="0" i="0" dirty="0">
              <a:solidFill>
                <a:srgbClr val="444444"/>
              </a:solidFill>
              <a:effectLst/>
              <a:latin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Translate the intermediate code to target machine code.</a:t>
            </a:r>
          </a:p>
          <a:p>
            <a:pPr algn="just">
              <a:lnSpc>
                <a:spcPct val="150000"/>
              </a:lnSpc>
              <a:buFont typeface="Arial" panose="020B0604020202020204" pitchFamily="34" charset="0"/>
              <a:buChar char="•"/>
            </a:pPr>
            <a:r>
              <a:rPr lang="en-IN" sz="2000" b="0" i="0" dirty="0">
                <a:solidFill>
                  <a:srgbClr val="444444"/>
                </a:solidFill>
                <a:effectLst/>
                <a:latin typeface="Poppins" panose="00000500000000000000" pitchFamily="2" charset="0"/>
              </a:rPr>
              <a:t>Select and allocate memory spots and registers.</a:t>
            </a:r>
          </a:p>
        </p:txBody>
      </p:sp>
    </p:spTree>
    <p:extLst>
      <p:ext uri="{BB962C8B-B14F-4D97-AF65-F5344CB8AC3E}">
        <p14:creationId xmlns:p14="http://schemas.microsoft.com/office/powerpoint/2010/main" val="2063484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Symbol table</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828799"/>
            <a:ext cx="11029615" cy="4710224"/>
          </a:xfrm>
        </p:spPr>
        <p:txBody>
          <a:bodyPr>
            <a:normAutofit/>
          </a:bodyPr>
          <a:lstStyle/>
          <a:p>
            <a:pPr algn="just"/>
            <a:r>
              <a:rPr lang="en-IN" sz="2000" b="0" i="0" dirty="0">
                <a:solidFill>
                  <a:srgbClr val="444444"/>
                </a:solidFill>
                <a:effectLst/>
                <a:latin typeface="Poppins" panose="00000500000000000000" pitchFamily="2" charset="0"/>
              </a:rPr>
              <a:t>The symbol table is mainly known as the data structure of the compiler. It helps in storing the identifiers with their name and types. It makes it very easy to operate the searching and fetching process.</a:t>
            </a:r>
          </a:p>
          <a:p>
            <a:pPr algn="just"/>
            <a:r>
              <a:rPr lang="en-IN" sz="2000" b="0" i="0" dirty="0">
                <a:solidFill>
                  <a:srgbClr val="444444"/>
                </a:solidFill>
                <a:effectLst/>
                <a:latin typeface="Poppins" panose="00000500000000000000" pitchFamily="2" charset="0"/>
              </a:rPr>
              <a:t>The symbol table connects or interacts with all phases of the compiler and error handler for updates. It is also accountable for scope management.</a:t>
            </a:r>
          </a:p>
          <a:p>
            <a:pPr marL="0" indent="0" algn="just">
              <a:buNone/>
            </a:pPr>
            <a:endParaRPr lang="en-IN" sz="2000" b="0" i="0" dirty="0">
              <a:solidFill>
                <a:srgbClr val="444444"/>
              </a:solidFill>
              <a:effectLst/>
              <a:latin typeface="Poppins" panose="00000500000000000000" pitchFamily="2" charset="0"/>
            </a:endParaRPr>
          </a:p>
          <a:p>
            <a:pPr marL="0" indent="0" algn="just">
              <a:buNone/>
            </a:pPr>
            <a:r>
              <a:rPr lang="en-IN" sz="2000" b="0" i="0" dirty="0">
                <a:solidFill>
                  <a:srgbClr val="444444"/>
                </a:solidFill>
                <a:effectLst/>
                <a:latin typeface="Poppins" panose="00000500000000000000" pitchFamily="2" charset="0"/>
              </a:rPr>
              <a:t>It stores:</a:t>
            </a:r>
          </a:p>
          <a:p>
            <a:pPr algn="just">
              <a:buFont typeface="Arial" panose="020B0604020202020204" pitchFamily="34" charset="0"/>
              <a:buChar char="•"/>
            </a:pPr>
            <a:r>
              <a:rPr lang="en-IN" sz="2000" b="0" i="0" dirty="0">
                <a:solidFill>
                  <a:srgbClr val="444444"/>
                </a:solidFill>
                <a:effectLst/>
                <a:latin typeface="Poppins" panose="00000500000000000000" pitchFamily="2" charset="0"/>
              </a:rPr>
              <a:t>It stores the literal constants and strings.</a:t>
            </a:r>
          </a:p>
          <a:p>
            <a:pPr algn="just">
              <a:buFont typeface="Arial" panose="020B0604020202020204" pitchFamily="34" charset="0"/>
              <a:buChar char="•"/>
            </a:pPr>
            <a:r>
              <a:rPr lang="en-IN" sz="2000" b="0" i="0" dirty="0">
                <a:solidFill>
                  <a:srgbClr val="444444"/>
                </a:solidFill>
                <a:effectLst/>
                <a:latin typeface="Poppins" panose="00000500000000000000" pitchFamily="2" charset="0"/>
              </a:rPr>
              <a:t>It helps in storing the function names.</a:t>
            </a:r>
          </a:p>
          <a:p>
            <a:pPr algn="just">
              <a:buFont typeface="Arial" panose="020B0604020202020204" pitchFamily="34" charset="0"/>
              <a:buChar char="•"/>
            </a:pPr>
            <a:r>
              <a:rPr lang="en-IN" sz="2000" b="0" i="0" dirty="0">
                <a:solidFill>
                  <a:srgbClr val="444444"/>
                </a:solidFill>
                <a:effectLst/>
                <a:latin typeface="Poppins" panose="00000500000000000000" pitchFamily="2" charset="0"/>
              </a:rPr>
              <a:t>It also prefers to store variable names and constants.</a:t>
            </a:r>
          </a:p>
          <a:p>
            <a:pPr algn="just">
              <a:buFont typeface="Arial" panose="020B0604020202020204" pitchFamily="34" charset="0"/>
              <a:buChar char="•"/>
            </a:pPr>
            <a:r>
              <a:rPr lang="en-IN" sz="2000" b="0" i="0" dirty="0">
                <a:solidFill>
                  <a:srgbClr val="444444"/>
                </a:solidFill>
                <a:effectLst/>
                <a:latin typeface="Poppins" panose="00000500000000000000" pitchFamily="2" charset="0"/>
              </a:rPr>
              <a:t>It stores labels in source languages.</a:t>
            </a:r>
          </a:p>
        </p:txBody>
      </p:sp>
    </p:spTree>
    <p:extLst>
      <p:ext uri="{BB962C8B-B14F-4D97-AF65-F5344CB8AC3E}">
        <p14:creationId xmlns:p14="http://schemas.microsoft.com/office/powerpoint/2010/main" val="10937404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Objective of Symbol table</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828799"/>
            <a:ext cx="11029615" cy="4710224"/>
          </a:xfrm>
        </p:spPr>
        <p:txBody>
          <a:bodyPr>
            <a:normAutofit fontScale="92500" lnSpcReduction="10000"/>
          </a:bodyPr>
          <a:lstStyle/>
          <a:p>
            <a:pPr marL="0" indent="0" algn="just">
              <a:lnSpc>
                <a:spcPct val="150000"/>
              </a:lnSpc>
              <a:buNone/>
            </a:pPr>
            <a:r>
              <a:rPr lang="en-IN" sz="2000" b="0" i="0" dirty="0">
                <a:solidFill>
                  <a:srgbClr val="000000"/>
                </a:solidFill>
                <a:effectLst/>
                <a:latin typeface="Poppins" panose="00000500000000000000" pitchFamily="2" charset="0"/>
                <a:cs typeface="Poppins" panose="00000500000000000000" pitchFamily="2" charset="0"/>
              </a:rPr>
              <a:t>A symbol table serves the following objectives:</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It verifies whether a variable has been declared.</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It stores all entities' names in a structured form in a single place.</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It determines the scope of a name.</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It implements type checking by verifying whether the assignments and expressions in the source code are semantically correct or not.</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It may be included in a process output to be used later during debugging sessions.</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It serves as a resource for creating a diagnostic report during or after program execution.</a:t>
            </a:r>
            <a:endParaRPr lang="en-IN" sz="2000" b="0" i="0" dirty="0">
              <a:solidFill>
                <a:srgbClr val="36393E"/>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540941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Format of Symbol table</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2" y="1828799"/>
            <a:ext cx="11029615" cy="1600201"/>
          </a:xfrm>
        </p:spPr>
        <p:txBody>
          <a:bodyPr>
            <a:normAutofit/>
          </a:bodyPr>
          <a:lstStyle/>
          <a:p>
            <a:pPr marL="0" indent="0" algn="just">
              <a:lnSpc>
                <a:spcPct val="150000"/>
              </a:lnSpc>
              <a:buNone/>
            </a:pPr>
            <a:r>
              <a:rPr lang="en-IN" sz="2000" b="0" i="0" dirty="0">
                <a:solidFill>
                  <a:srgbClr val="000000"/>
                </a:solidFill>
                <a:effectLst/>
                <a:latin typeface="Poppins" panose="00000500000000000000" pitchFamily="2" charset="0"/>
                <a:cs typeface="Poppins" panose="00000500000000000000" pitchFamily="2" charset="0"/>
              </a:rPr>
              <a:t>A symbol table is simply a table which can be either linear or a hash table. Each item in the symbol table has properties like name, kind, type, and others, like the image added below.</a:t>
            </a:r>
            <a:endParaRPr lang="en-IN" sz="2000" b="0" i="0" dirty="0">
              <a:solidFill>
                <a:srgbClr val="36393E"/>
              </a:solidFill>
              <a:effectLst/>
              <a:latin typeface="Poppins" panose="00000500000000000000" pitchFamily="2" charset="0"/>
              <a:cs typeface="Poppins" panose="00000500000000000000" pitchFamily="2" charset="0"/>
            </a:endParaRPr>
          </a:p>
        </p:txBody>
      </p:sp>
      <p:pic>
        <p:nvPicPr>
          <p:cNvPr id="2050" name="Picture 2" descr="Format of Symbol Table">
            <a:extLst>
              <a:ext uri="{FF2B5EF4-FFF2-40B4-BE49-F238E27FC236}">
                <a16:creationId xmlns:a16="http://schemas.microsoft.com/office/drawing/2014/main" id="{49EC64ED-6538-894D-3438-7A8DD06BB2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1192" y="3678422"/>
            <a:ext cx="11020425" cy="3009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6744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Symbol table operation</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3" y="2009552"/>
            <a:ext cx="11029615" cy="4710224"/>
          </a:xfrm>
        </p:spPr>
        <p:txBody>
          <a:bodyPr>
            <a:normAutofit/>
          </a:bodyPr>
          <a:lstStyle/>
          <a:p>
            <a:pPr marL="0" indent="0" algn="just">
              <a:lnSpc>
                <a:spcPct val="150000"/>
              </a:lnSpc>
              <a:buNone/>
            </a:pPr>
            <a:r>
              <a:rPr lang="en-IN" sz="2000" b="1" i="0" dirty="0">
                <a:solidFill>
                  <a:srgbClr val="000000"/>
                </a:solidFill>
                <a:effectLst/>
                <a:latin typeface="Poppins" panose="00000500000000000000" pitchFamily="2" charset="0"/>
                <a:cs typeface="Poppins" panose="00000500000000000000" pitchFamily="2" charset="0"/>
              </a:rPr>
              <a:t>insert()</a:t>
            </a:r>
            <a:endParaRPr lang="en-IN" sz="2000" b="1" i="0" dirty="0">
              <a:solidFill>
                <a:srgbClr val="616161"/>
              </a:solidFill>
              <a:effectLst/>
              <a:latin typeface="Poppins" panose="00000500000000000000" pitchFamily="2" charset="0"/>
              <a:cs typeface="Poppins" panose="00000500000000000000" pitchFamily="2" charset="0"/>
            </a:endParaRPr>
          </a:p>
          <a:p>
            <a:pPr algn="just">
              <a:lnSpc>
                <a:spcPct val="150000"/>
              </a:lnSpc>
            </a:pPr>
            <a:r>
              <a:rPr lang="en-IN" sz="2000" b="0" i="0" dirty="0">
                <a:solidFill>
                  <a:srgbClr val="000000"/>
                </a:solidFill>
                <a:effectLst/>
                <a:latin typeface="Poppins" panose="00000500000000000000" pitchFamily="2" charset="0"/>
                <a:cs typeface="Poppins" panose="00000500000000000000" pitchFamily="2" charset="0"/>
              </a:rPr>
              <a:t>The operation insert( ) inserts information in the table about unique names occurring in the code. The format in which the names are stored depends on the compiler. The analysis phase, i.e., the first half, where tokens are identified, and names are stored in the symbol table more frequently uses this operation. The attributes of a symbol are information associated with the symbol like state, scope, type, etc. The symbols and attributes of the symbols are the arguments of the insert() function. Take, for example, the user writes int a; in the code.</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pPr>
            <a:r>
              <a:rPr lang="en-IN" sz="2000" b="0" i="0" dirty="0">
                <a:solidFill>
                  <a:srgbClr val="000000"/>
                </a:solidFill>
                <a:effectLst/>
                <a:latin typeface="Poppins" panose="00000500000000000000" pitchFamily="2" charset="0"/>
                <a:cs typeface="Poppins" panose="00000500000000000000" pitchFamily="2" charset="0"/>
              </a:rPr>
              <a:t>Now, the compiler processes this as insert(a, int);</a:t>
            </a:r>
            <a:endParaRPr lang="en-IN" sz="2000" b="0" i="0" dirty="0">
              <a:solidFill>
                <a:srgbClr val="36393E"/>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0" i="0" dirty="0">
              <a:solidFill>
                <a:srgbClr val="36393E"/>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883285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775770"/>
          </a:xfrm>
        </p:spPr>
        <p:txBody>
          <a:bodyPr/>
          <a:lstStyle/>
          <a:p>
            <a:r>
              <a:rPr lang="en-IN" dirty="0">
                <a:solidFill>
                  <a:srgbClr val="FFC000"/>
                </a:solidFill>
              </a:rPr>
              <a:t>Symbol table operation</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3" y="2009552"/>
            <a:ext cx="11029615" cy="4710224"/>
          </a:xfrm>
        </p:spPr>
        <p:txBody>
          <a:bodyPr>
            <a:normAutofit fontScale="92500" lnSpcReduction="20000"/>
          </a:bodyPr>
          <a:lstStyle/>
          <a:p>
            <a:pPr marL="0" indent="0" algn="just">
              <a:lnSpc>
                <a:spcPct val="150000"/>
              </a:lnSpc>
              <a:buNone/>
            </a:pPr>
            <a:r>
              <a:rPr lang="en-IN" sz="2000" b="1" i="0" dirty="0">
                <a:solidFill>
                  <a:srgbClr val="000000"/>
                </a:solidFill>
                <a:effectLst/>
                <a:latin typeface="Poppins" panose="00000500000000000000" pitchFamily="2" charset="0"/>
                <a:cs typeface="Poppins" panose="00000500000000000000" pitchFamily="2" charset="0"/>
              </a:rPr>
              <a:t>lookup()</a:t>
            </a:r>
            <a:endParaRPr lang="en-IN" sz="2000" b="1" i="0" dirty="0">
              <a:solidFill>
                <a:srgbClr val="616161"/>
              </a:solidFill>
              <a:effectLst/>
              <a:latin typeface="Poppins" panose="00000500000000000000" pitchFamily="2" charset="0"/>
              <a:cs typeface="Poppins" panose="00000500000000000000" pitchFamily="2" charset="0"/>
            </a:endParaRPr>
          </a:p>
          <a:p>
            <a:pPr algn="just">
              <a:lnSpc>
                <a:spcPct val="150000"/>
              </a:lnSpc>
            </a:pPr>
            <a:r>
              <a:rPr lang="en-IN" sz="2000" b="0" i="0" dirty="0">
                <a:solidFill>
                  <a:srgbClr val="000000"/>
                </a:solidFill>
                <a:effectLst/>
                <a:latin typeface="Poppins" panose="00000500000000000000" pitchFamily="2" charset="0"/>
                <a:cs typeface="Poppins" panose="00000500000000000000" pitchFamily="2" charset="0"/>
              </a:rPr>
              <a:t>The lookup() operation's primary function is to search for a name in the symbol table. The lookup() function format varies from language to language. The basic format is lookup(symbol). The function returns zero if the entered symbol does not exist in the table, and if it does, it returns its attributes stored in the table. The lookup() function also determines-</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If the symbol is declared before it is being used.</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If the name is used in the scope.</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If the symbol is initialized.</a:t>
            </a:r>
            <a:endParaRPr lang="en-IN" sz="2000" b="0" i="0" dirty="0">
              <a:solidFill>
                <a:srgbClr val="36393E"/>
              </a:solidFill>
              <a:effectLst/>
              <a:latin typeface="Poppins" panose="00000500000000000000" pitchFamily="2" charset="0"/>
              <a:cs typeface="Poppins" panose="00000500000000000000" pitchFamily="2" charset="0"/>
            </a:endParaRPr>
          </a:p>
          <a:p>
            <a:pPr algn="just">
              <a:lnSpc>
                <a:spcPct val="150000"/>
              </a:lnSpc>
              <a:buFont typeface="Arial" panose="020B0604020202020204" pitchFamily="34" charset="0"/>
              <a:buChar char="•"/>
            </a:pPr>
            <a:r>
              <a:rPr lang="en-IN" sz="2000" b="0" i="0" dirty="0">
                <a:solidFill>
                  <a:srgbClr val="000000"/>
                </a:solidFill>
                <a:effectLst/>
                <a:latin typeface="Poppins" panose="00000500000000000000" pitchFamily="2" charset="0"/>
                <a:cs typeface="Poppins" panose="00000500000000000000" pitchFamily="2" charset="0"/>
              </a:rPr>
              <a:t>If the symbol is declared multiple times.</a:t>
            </a:r>
            <a:endParaRPr lang="en-IN" sz="2000" b="0" i="0" dirty="0">
              <a:solidFill>
                <a:srgbClr val="36393E"/>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0" i="0" dirty="0">
              <a:solidFill>
                <a:srgbClr val="36393E"/>
              </a:solidFill>
              <a:effectLst/>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3071407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9DA90-612E-4BC3-4FD3-F0052D535DAB}"/>
              </a:ext>
            </a:extLst>
          </p:cNvPr>
          <p:cNvSpPr>
            <a:spLocks noGrp="1"/>
          </p:cNvSpPr>
          <p:nvPr>
            <p:ph type="title"/>
          </p:nvPr>
        </p:nvSpPr>
        <p:spPr>
          <a:xfrm>
            <a:off x="581192" y="702156"/>
            <a:ext cx="11029616" cy="1013800"/>
          </a:xfrm>
        </p:spPr>
        <p:txBody>
          <a:bodyPr>
            <a:normAutofit/>
          </a:bodyPr>
          <a:lstStyle/>
          <a:p>
            <a:r>
              <a:rPr lang="en-IN">
                <a:solidFill>
                  <a:srgbClr val="FFFFFF"/>
                </a:solidFill>
              </a:rPr>
              <a:t>Data structures</a:t>
            </a:r>
          </a:p>
        </p:txBody>
      </p:sp>
      <p:sp>
        <p:nvSpPr>
          <p:cNvPr id="3" name="Content Placeholder 2">
            <a:extLst>
              <a:ext uri="{FF2B5EF4-FFF2-40B4-BE49-F238E27FC236}">
                <a16:creationId xmlns:a16="http://schemas.microsoft.com/office/drawing/2014/main" id="{8141E3C1-633F-B4F8-C7D0-7B6298561AA9}"/>
              </a:ext>
            </a:extLst>
          </p:cNvPr>
          <p:cNvSpPr>
            <a:spLocks noGrp="1"/>
          </p:cNvSpPr>
          <p:nvPr>
            <p:ph idx="1"/>
          </p:nvPr>
        </p:nvSpPr>
        <p:spPr>
          <a:xfrm>
            <a:off x="581193" y="2180497"/>
            <a:ext cx="5925934" cy="2274546"/>
          </a:xfrm>
        </p:spPr>
        <p:txBody>
          <a:bodyPr>
            <a:normAutofit/>
          </a:bodyPr>
          <a:lstStyle/>
          <a:p>
            <a:pPr marL="0" indent="0">
              <a:lnSpc>
                <a:spcPct val="150000"/>
              </a:lnSpc>
              <a:buNone/>
            </a:pPr>
            <a:r>
              <a:rPr lang="en-IN" b="0" i="0" dirty="0">
                <a:effectLst/>
                <a:latin typeface="Poppins" panose="00000500000000000000" pitchFamily="2" charset="0"/>
                <a:cs typeface="Poppins" panose="00000500000000000000" pitchFamily="2" charset="0"/>
              </a:rPr>
              <a:t>Data Structures used for the implementation of symbol tables are-</a:t>
            </a:r>
            <a:br>
              <a:rPr lang="en-IN" dirty="0">
                <a:latin typeface="Poppins" panose="00000500000000000000" pitchFamily="2" charset="0"/>
                <a:cs typeface="Poppins" panose="00000500000000000000" pitchFamily="2" charset="0"/>
              </a:rPr>
            </a:br>
            <a:r>
              <a:rPr lang="en-IN" b="0" i="0" u="none" strike="noStrike" dirty="0">
                <a:effectLst/>
                <a:latin typeface="Poppins" panose="00000500000000000000" pitchFamily="2" charset="0"/>
                <a:cs typeface="Poppins" panose="00000500000000000000" pitchFamily="2" charset="0"/>
              </a:rPr>
              <a:t>1. Binary Search Tree</a:t>
            </a:r>
            <a:br>
              <a:rPr lang="en-IN" dirty="0">
                <a:latin typeface="Poppins" panose="00000500000000000000" pitchFamily="2" charset="0"/>
                <a:cs typeface="Poppins" panose="00000500000000000000" pitchFamily="2" charset="0"/>
              </a:rPr>
            </a:br>
            <a:r>
              <a:rPr lang="en-IN" b="0" i="0" u="none" strike="noStrike" dirty="0">
                <a:effectLst/>
                <a:latin typeface="Poppins" panose="00000500000000000000" pitchFamily="2" charset="0"/>
                <a:cs typeface="Poppins" panose="00000500000000000000" pitchFamily="2" charset="0"/>
              </a:rPr>
              <a:t>2. Hash Tables</a:t>
            </a:r>
            <a:endParaRPr lang="en-IN" b="0" i="0" dirty="0">
              <a:effectLst/>
              <a:latin typeface="Poppins" panose="00000500000000000000" pitchFamily="2" charset="0"/>
              <a:cs typeface="Poppins" panose="00000500000000000000" pitchFamily="2" charset="0"/>
            </a:endParaRPr>
          </a:p>
        </p:txBody>
      </p:sp>
      <p:pic>
        <p:nvPicPr>
          <p:cNvPr id="7" name="Picture 6">
            <a:extLst>
              <a:ext uri="{FF2B5EF4-FFF2-40B4-BE49-F238E27FC236}">
                <a16:creationId xmlns:a16="http://schemas.microsoft.com/office/drawing/2014/main" id="{7ABF18C4-ACBB-5FB4-E72F-5094CB10CA8F}"/>
              </a:ext>
            </a:extLst>
          </p:cNvPr>
          <p:cNvPicPr>
            <a:picLocks noChangeAspect="1"/>
          </p:cNvPicPr>
          <p:nvPr/>
        </p:nvPicPr>
        <p:blipFill rotWithShape="1">
          <a:blip r:embed="rId2"/>
          <a:srcRect t="769" r="-1" b="12704"/>
          <a:stretch/>
        </p:blipFill>
        <p:spPr>
          <a:xfrm>
            <a:off x="7084237" y="1796298"/>
            <a:ext cx="4526570" cy="4752951"/>
          </a:xfrm>
          <a:prstGeom prst="rect">
            <a:avLst/>
          </a:prstGeom>
        </p:spPr>
      </p:pic>
      <p:sp>
        <p:nvSpPr>
          <p:cNvPr id="6" name="AutoShape 6" descr="Data Structures">
            <a:extLst>
              <a:ext uri="{FF2B5EF4-FFF2-40B4-BE49-F238E27FC236}">
                <a16:creationId xmlns:a16="http://schemas.microsoft.com/office/drawing/2014/main" id="{73B47344-CA4F-EB76-BA99-9E33D8D2C3E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9226867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F47CA-940F-48F7-9093-B3321E313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8EC21-A818-69CA-4773-6433C8E37295}"/>
              </a:ext>
            </a:extLst>
          </p:cNvPr>
          <p:cNvSpPr>
            <a:spLocks noGrp="1"/>
          </p:cNvSpPr>
          <p:nvPr>
            <p:ph type="title"/>
          </p:nvPr>
        </p:nvSpPr>
        <p:spPr>
          <a:xfrm>
            <a:off x="581192" y="702156"/>
            <a:ext cx="11029616" cy="775770"/>
          </a:xfrm>
        </p:spPr>
        <p:txBody>
          <a:bodyPr/>
          <a:lstStyle/>
          <a:p>
            <a:r>
              <a:rPr lang="en-IN" dirty="0">
                <a:solidFill>
                  <a:srgbClr val="FFC000"/>
                </a:solidFill>
              </a:rPr>
              <a:t>Working Example</a:t>
            </a:r>
          </a:p>
        </p:txBody>
      </p:sp>
      <p:sp>
        <p:nvSpPr>
          <p:cNvPr id="3" name="Content Placeholder 2">
            <a:extLst>
              <a:ext uri="{FF2B5EF4-FFF2-40B4-BE49-F238E27FC236}">
                <a16:creationId xmlns:a16="http://schemas.microsoft.com/office/drawing/2014/main" id="{74D35061-DB8D-7035-DC59-FFC3AE6FED70}"/>
              </a:ext>
            </a:extLst>
          </p:cNvPr>
          <p:cNvSpPr>
            <a:spLocks noGrp="1"/>
          </p:cNvSpPr>
          <p:nvPr>
            <p:ph idx="1"/>
          </p:nvPr>
        </p:nvSpPr>
        <p:spPr>
          <a:xfrm>
            <a:off x="581193" y="2009552"/>
            <a:ext cx="11029615" cy="4710224"/>
          </a:xfrm>
        </p:spPr>
        <p:txBody>
          <a:bodyPr>
            <a:normAutofit/>
          </a:bodyPr>
          <a:lstStyle/>
          <a:p>
            <a:pPr marL="0" indent="0" algn="just">
              <a:lnSpc>
                <a:spcPct val="150000"/>
              </a:lnSpc>
              <a:buNone/>
            </a:pPr>
            <a:r>
              <a:rPr lang="en-IN" sz="2000" b="1" i="0" dirty="0">
                <a:solidFill>
                  <a:srgbClr val="000000"/>
                </a:solidFill>
                <a:effectLst/>
                <a:latin typeface="Poppins" panose="00000500000000000000" pitchFamily="2" charset="0"/>
                <a:cs typeface="Poppins" panose="00000500000000000000" pitchFamily="2" charset="0"/>
              </a:rPr>
              <a:t>X = a + b * 50;</a:t>
            </a: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r>
              <a:rPr lang="en-IN" sz="2000" b="1" i="0" dirty="0">
                <a:solidFill>
                  <a:srgbClr val="000000"/>
                </a:solidFill>
                <a:effectLst/>
                <a:latin typeface="Poppins" panose="00000500000000000000" pitchFamily="2" charset="0"/>
                <a:cs typeface="Poppins" panose="00000500000000000000" pitchFamily="2" charset="0"/>
              </a:rPr>
              <a:t>Symbol Table:</a:t>
            </a: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endParaRPr lang="en-IN" sz="2000" b="0" i="0" dirty="0">
              <a:solidFill>
                <a:srgbClr val="36393E"/>
              </a:solidFill>
              <a:effectLst/>
              <a:latin typeface="Poppins" panose="00000500000000000000" pitchFamily="2" charset="0"/>
              <a:cs typeface="Poppins" panose="00000500000000000000" pitchFamily="2" charset="0"/>
            </a:endParaRPr>
          </a:p>
        </p:txBody>
      </p:sp>
      <p:graphicFrame>
        <p:nvGraphicFramePr>
          <p:cNvPr id="4" name="Table 3">
            <a:extLst>
              <a:ext uri="{FF2B5EF4-FFF2-40B4-BE49-F238E27FC236}">
                <a16:creationId xmlns:a16="http://schemas.microsoft.com/office/drawing/2014/main" id="{494852C6-1FD6-DDD9-3CAE-5C8C7B4A2D66}"/>
              </a:ext>
            </a:extLst>
          </p:cNvPr>
          <p:cNvGraphicFramePr>
            <a:graphicFrameLocks noGrp="1"/>
          </p:cNvGraphicFramePr>
          <p:nvPr>
            <p:extLst>
              <p:ext uri="{D42A27DB-BD31-4B8C-83A1-F6EECF244321}">
                <p14:modId xmlns:p14="http://schemas.microsoft.com/office/powerpoint/2010/main" val="3769329875"/>
              </p:ext>
            </p:extLst>
          </p:nvPr>
        </p:nvGraphicFramePr>
        <p:xfrm>
          <a:off x="3863145" y="4043984"/>
          <a:ext cx="3719685" cy="2675792"/>
        </p:xfrm>
        <a:graphic>
          <a:graphicData uri="http://schemas.openxmlformats.org/drawingml/2006/table">
            <a:tbl>
              <a:tblPr/>
              <a:tblGrid>
                <a:gridCol w="1239895">
                  <a:extLst>
                    <a:ext uri="{9D8B030D-6E8A-4147-A177-3AD203B41FA5}">
                      <a16:colId xmlns:a16="http://schemas.microsoft.com/office/drawing/2014/main" val="4117995871"/>
                    </a:ext>
                  </a:extLst>
                </a:gridCol>
                <a:gridCol w="1239895">
                  <a:extLst>
                    <a:ext uri="{9D8B030D-6E8A-4147-A177-3AD203B41FA5}">
                      <a16:colId xmlns:a16="http://schemas.microsoft.com/office/drawing/2014/main" val="2173027135"/>
                    </a:ext>
                  </a:extLst>
                </a:gridCol>
                <a:gridCol w="1239895">
                  <a:extLst>
                    <a:ext uri="{9D8B030D-6E8A-4147-A177-3AD203B41FA5}">
                      <a16:colId xmlns:a16="http://schemas.microsoft.com/office/drawing/2014/main" val="3064247662"/>
                    </a:ext>
                  </a:extLst>
                </a:gridCol>
              </a:tblGrid>
              <a:tr h="726371">
                <a:tc>
                  <a:txBody>
                    <a:bodyPr/>
                    <a:lstStyle/>
                    <a:p>
                      <a:pPr algn="ctr" fontAlgn="base"/>
                      <a:r>
                        <a:rPr lang="en-IN" b="1">
                          <a:effectLst/>
                        </a:rPr>
                        <a:t>S.No.</a:t>
                      </a:r>
                    </a:p>
                  </a:txBody>
                  <a:tcPr marL="38100" marR="38100" marT="18320" marB="1832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b="1" dirty="0">
                          <a:effectLst/>
                        </a:rPr>
                        <a:t>Variable name</a:t>
                      </a:r>
                    </a:p>
                  </a:txBody>
                  <a:tcPr marL="18320" marR="18320" marT="18320" marB="1832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IN" b="1" dirty="0">
                          <a:effectLst/>
                        </a:rPr>
                        <a:t>Variable type</a:t>
                      </a:r>
                    </a:p>
                  </a:txBody>
                  <a:tcPr marL="18320" marR="18320" marT="18320" marB="1832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872940771"/>
                  </a:ext>
                </a:extLst>
              </a:tr>
              <a:tr h="649807">
                <a:tc>
                  <a:txBody>
                    <a:bodyPr/>
                    <a:lstStyle/>
                    <a:p>
                      <a:pPr algn="ctr" fontAlgn="ctr"/>
                      <a:r>
                        <a:rPr lang="en-IN" sz="2400" b="0" dirty="0">
                          <a:effectLst/>
                        </a:rPr>
                        <a:t>1</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400" b="0" dirty="0">
                          <a:effectLst/>
                        </a:rPr>
                        <a:t>x</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400" b="0">
                          <a:effectLst/>
                        </a:rPr>
                        <a:t>float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41653339"/>
                  </a:ext>
                </a:extLst>
              </a:tr>
              <a:tr h="649807">
                <a:tc>
                  <a:txBody>
                    <a:bodyPr/>
                    <a:lstStyle/>
                    <a:p>
                      <a:pPr algn="ctr" fontAlgn="ctr"/>
                      <a:r>
                        <a:rPr lang="en-IN" sz="2400" b="0">
                          <a:effectLst/>
                        </a:rPr>
                        <a:t>2</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400" b="0" dirty="0">
                          <a:effectLst/>
                        </a:rPr>
                        <a:t>a</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400" b="0" dirty="0">
                          <a:effectLst/>
                        </a:rPr>
                        <a:t>float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4160959896"/>
                  </a:ext>
                </a:extLst>
              </a:tr>
              <a:tr h="649807">
                <a:tc>
                  <a:txBody>
                    <a:bodyPr/>
                    <a:lstStyle/>
                    <a:p>
                      <a:pPr algn="ctr" fontAlgn="ctr"/>
                      <a:r>
                        <a:rPr lang="en-IN" sz="2400" b="0">
                          <a:effectLst/>
                        </a:rPr>
                        <a:t>3</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400" b="0">
                          <a:effectLst/>
                        </a:rPr>
                        <a:t>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IN" sz="2400" b="0" dirty="0">
                          <a:effectLst/>
                        </a:rPr>
                        <a:t>float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854243612"/>
                  </a:ext>
                </a:extLst>
              </a:tr>
            </a:tbl>
          </a:graphicData>
        </a:graphic>
      </p:graphicFrame>
    </p:spTree>
    <p:extLst>
      <p:ext uri="{BB962C8B-B14F-4D97-AF65-F5344CB8AC3E}">
        <p14:creationId xmlns:p14="http://schemas.microsoft.com/office/powerpoint/2010/main" val="553362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EB2D9-601E-8F31-EA6F-2CD6B2FD0D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17A9E-2A90-20BF-8919-0717ED8650B9}"/>
              </a:ext>
            </a:extLst>
          </p:cNvPr>
          <p:cNvSpPr>
            <a:spLocks noGrp="1"/>
          </p:cNvSpPr>
          <p:nvPr>
            <p:ph type="title"/>
          </p:nvPr>
        </p:nvSpPr>
        <p:spPr>
          <a:xfrm>
            <a:off x="581192" y="702156"/>
            <a:ext cx="11029616" cy="775770"/>
          </a:xfrm>
        </p:spPr>
        <p:txBody>
          <a:bodyPr/>
          <a:lstStyle/>
          <a:p>
            <a:r>
              <a:rPr lang="en-IN" dirty="0">
                <a:solidFill>
                  <a:srgbClr val="FFC000"/>
                </a:solidFill>
              </a:rPr>
              <a:t>Working Example</a:t>
            </a:r>
          </a:p>
        </p:txBody>
      </p:sp>
      <p:sp>
        <p:nvSpPr>
          <p:cNvPr id="3" name="Content Placeholder 2">
            <a:extLst>
              <a:ext uri="{FF2B5EF4-FFF2-40B4-BE49-F238E27FC236}">
                <a16:creationId xmlns:a16="http://schemas.microsoft.com/office/drawing/2014/main" id="{16B92509-12B9-F285-CDC7-5A0FF27D85EC}"/>
              </a:ext>
            </a:extLst>
          </p:cNvPr>
          <p:cNvSpPr>
            <a:spLocks noGrp="1"/>
          </p:cNvSpPr>
          <p:nvPr>
            <p:ph idx="1"/>
          </p:nvPr>
        </p:nvSpPr>
        <p:spPr>
          <a:xfrm>
            <a:off x="581193" y="2009552"/>
            <a:ext cx="11029615" cy="4710224"/>
          </a:xfrm>
        </p:spPr>
        <p:txBody>
          <a:bodyPr>
            <a:normAutofit/>
          </a:bodyPr>
          <a:lstStyle/>
          <a:p>
            <a:pPr marL="457200" indent="-457200" algn="just">
              <a:lnSpc>
                <a:spcPct val="150000"/>
              </a:lnSpc>
              <a:buAutoNum type="arabicPeriod"/>
            </a:pPr>
            <a:r>
              <a:rPr lang="en-IN" sz="2000" b="1" i="0" dirty="0">
                <a:solidFill>
                  <a:srgbClr val="000000"/>
                </a:solidFill>
                <a:effectLst/>
                <a:latin typeface="Poppins" panose="00000500000000000000" pitchFamily="2" charset="0"/>
                <a:cs typeface="Poppins" panose="00000500000000000000" pitchFamily="2" charset="0"/>
              </a:rPr>
              <a:t>Lexical Analyzer:</a:t>
            </a:r>
          </a:p>
          <a:p>
            <a:pPr marL="457200" indent="-457200" algn="just">
              <a:lnSpc>
                <a:spcPct val="150000"/>
              </a:lnSpc>
              <a:buAutoNum type="arabicPeriod"/>
            </a:pPr>
            <a:endParaRPr lang="en-IN" sz="2000" b="1" dirty="0">
              <a:solidFill>
                <a:srgbClr val="000000"/>
              </a:solidFill>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i="0" dirty="0">
              <a:solidFill>
                <a:srgbClr val="000000"/>
              </a:solidFill>
              <a:effectLst/>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dirty="0">
              <a:solidFill>
                <a:srgbClr val="000000"/>
              </a:solidFill>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endParaRPr lang="en-IN" sz="2000" b="0" i="0" dirty="0">
              <a:solidFill>
                <a:srgbClr val="36393E"/>
              </a:solidFill>
              <a:effectLst/>
              <a:latin typeface="Poppins" panose="00000500000000000000" pitchFamily="2" charset="0"/>
              <a:cs typeface="Poppins" panose="00000500000000000000" pitchFamily="2" charset="0"/>
            </a:endParaRPr>
          </a:p>
        </p:txBody>
      </p:sp>
      <p:sp>
        <p:nvSpPr>
          <p:cNvPr id="5" name="Rectangle 1">
            <a:extLst>
              <a:ext uri="{FF2B5EF4-FFF2-40B4-BE49-F238E27FC236}">
                <a16:creationId xmlns:a16="http://schemas.microsoft.com/office/drawing/2014/main" id="{8C6E7C7D-CD5A-3F34-638D-6B114D2DF90F}"/>
              </a:ext>
            </a:extLst>
          </p:cNvPr>
          <p:cNvSpPr>
            <a:spLocks noChangeArrowheads="1"/>
          </p:cNvSpPr>
          <p:nvPr/>
        </p:nvSpPr>
        <p:spPr bwMode="auto">
          <a:xfrm>
            <a:off x="1105784" y="2714533"/>
            <a:ext cx="8555665" cy="2003092"/>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x -&gt; Identifier- (id, 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 -&gt; Operator - Assignment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a -&gt; Identifier- (id, 2)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 -&gt; Operator - Binary Addition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Consolas" panose="020B0609020204030204" pitchFamily="49" charset="0"/>
              </a:rPr>
              <a:t>b -&gt; Identifier- (id, 3) </a:t>
            </a:r>
          </a:p>
          <a:p>
            <a:pPr marR="0" lvl="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Consolas" panose="020B0609020204030204" pitchFamily="49" charset="0"/>
              </a:rPr>
              <a:t>* -&gt; Operator -  Multiplication </a:t>
            </a:r>
          </a:p>
          <a:p>
            <a:pPr marR="0" lvl="0" algn="l" defTabSz="914400" rtl="0" eaLnBrk="0" fontAlgn="base" latinLnBrk="0" hangingPunct="0">
              <a:lnSpc>
                <a:spcPct val="100000"/>
              </a:lnSpc>
              <a:spcBef>
                <a:spcPct val="0"/>
              </a:spcBef>
              <a:spcAft>
                <a:spcPct val="0"/>
              </a:spcAft>
              <a:buClrTx/>
              <a:buSzTx/>
              <a:tabLst/>
            </a:pPr>
            <a:r>
              <a:rPr lang="en-US" altLang="en-US" dirty="0">
                <a:latin typeface="Consolas" panose="020B0609020204030204" pitchFamily="49" charset="0"/>
              </a:rPr>
              <a:t>1</a:t>
            </a:r>
            <a:r>
              <a:rPr kumimoji="0" lang="en-US" altLang="en-US" b="0" i="0" u="none" strike="noStrike" cap="none" normalizeH="0" baseline="0" dirty="0">
                <a:ln>
                  <a:noFill/>
                </a:ln>
                <a:solidFill>
                  <a:schemeClr val="tx1"/>
                </a:solidFill>
                <a:effectLst/>
                <a:latin typeface="Consolas" panose="020B0609020204030204" pitchFamily="49" charset="0"/>
              </a:rPr>
              <a:t>0 -&gt; Constant - Integer</a:t>
            </a:r>
            <a:r>
              <a:rPr kumimoji="0" lang="en-US" altLang="en-US" sz="1050" b="0" i="0" u="none" strike="noStrike" cap="none" normalizeH="0" baseline="0" dirty="0">
                <a:ln>
                  <a:noFill/>
                </a:ln>
                <a:solidFill>
                  <a:schemeClr val="tx1"/>
                </a:solidFill>
                <a:effectLst/>
              </a:rPr>
              <a:t> </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9AFF6CBB-8884-8D6A-F118-22E8107B2676}"/>
              </a:ext>
            </a:extLst>
          </p:cNvPr>
          <p:cNvSpPr>
            <a:spLocks noChangeArrowheads="1"/>
          </p:cNvSpPr>
          <p:nvPr/>
        </p:nvSpPr>
        <p:spPr bwMode="auto">
          <a:xfrm>
            <a:off x="581192" y="5218474"/>
            <a:ext cx="11029615" cy="679653"/>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273239"/>
                </a:solidFill>
                <a:effectLst/>
                <a:latin typeface="Nunito" pitchFamily="2" charset="0"/>
              </a:rPr>
              <a:t>final tokenized expression is given below.</a:t>
            </a:r>
            <a:endParaRPr kumimoji="0" lang="en-US" altLang="en-US" sz="2000" b="0" i="0" u="none" strike="noStrike" cap="none" normalizeH="0" baseline="0" dirty="0">
              <a:ln>
                <a:noFill/>
              </a:ln>
              <a:solidFill>
                <a:schemeClr val="tx1"/>
              </a:solidFill>
              <a:effectLst/>
              <a:latin typeface="Consolas" panose="020B06090202040302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(id, 1) = (id, 2) + (Id, 3)*50</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6306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E8558-5A68-A2D8-6DFC-C24F0C031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67745F-45EE-40A7-1717-7C08ED5ACCD0}"/>
              </a:ext>
            </a:extLst>
          </p:cNvPr>
          <p:cNvSpPr>
            <a:spLocks noGrp="1"/>
          </p:cNvSpPr>
          <p:nvPr>
            <p:ph type="title"/>
          </p:nvPr>
        </p:nvSpPr>
        <p:spPr>
          <a:xfrm>
            <a:off x="485499" y="845491"/>
            <a:ext cx="11029616" cy="775770"/>
          </a:xfrm>
        </p:spPr>
        <p:txBody>
          <a:bodyPr/>
          <a:lstStyle/>
          <a:p>
            <a:r>
              <a:rPr lang="en-IN" dirty="0">
                <a:solidFill>
                  <a:srgbClr val="FFC000"/>
                </a:solidFill>
              </a:rPr>
              <a:t>Working Example</a:t>
            </a:r>
          </a:p>
        </p:txBody>
      </p:sp>
      <p:sp>
        <p:nvSpPr>
          <p:cNvPr id="3" name="Content Placeholder 2">
            <a:extLst>
              <a:ext uri="{FF2B5EF4-FFF2-40B4-BE49-F238E27FC236}">
                <a16:creationId xmlns:a16="http://schemas.microsoft.com/office/drawing/2014/main" id="{5B35490D-D746-5EE2-78C7-A15F3D9555BF}"/>
              </a:ext>
            </a:extLst>
          </p:cNvPr>
          <p:cNvSpPr>
            <a:spLocks noGrp="1"/>
          </p:cNvSpPr>
          <p:nvPr>
            <p:ph idx="1"/>
          </p:nvPr>
        </p:nvSpPr>
        <p:spPr>
          <a:xfrm>
            <a:off x="453603" y="2009551"/>
            <a:ext cx="11029615" cy="4710224"/>
          </a:xfrm>
        </p:spPr>
        <p:txBody>
          <a:bodyPr>
            <a:normAutofit/>
          </a:bodyPr>
          <a:lstStyle/>
          <a:p>
            <a:pPr marL="0" indent="0" algn="just">
              <a:lnSpc>
                <a:spcPct val="150000"/>
              </a:lnSpc>
              <a:buNone/>
            </a:pPr>
            <a:r>
              <a:rPr lang="en-IN" sz="2000" b="1" i="0" dirty="0">
                <a:solidFill>
                  <a:srgbClr val="000000"/>
                </a:solidFill>
                <a:effectLst/>
                <a:latin typeface="Poppins" panose="00000500000000000000" pitchFamily="2" charset="0"/>
                <a:cs typeface="Poppins" panose="00000500000000000000" pitchFamily="2" charset="0"/>
              </a:rPr>
              <a:t>2. Syntax Analyzer:</a:t>
            </a:r>
          </a:p>
          <a:p>
            <a:pPr marL="457200" indent="-457200" algn="just">
              <a:lnSpc>
                <a:spcPct val="150000"/>
              </a:lnSpc>
              <a:buAutoNum type="arabicPeriod"/>
            </a:pPr>
            <a:endParaRPr lang="en-IN" sz="2000" b="1" dirty="0">
              <a:solidFill>
                <a:srgbClr val="000000"/>
              </a:solidFill>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i="0" dirty="0">
              <a:solidFill>
                <a:srgbClr val="000000"/>
              </a:solidFill>
              <a:effectLst/>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dirty="0">
              <a:solidFill>
                <a:srgbClr val="000000"/>
              </a:solidFill>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endParaRPr lang="en-IN" sz="2000" b="0" i="0" dirty="0">
              <a:solidFill>
                <a:srgbClr val="36393E"/>
              </a:solidFill>
              <a:effectLst/>
              <a:latin typeface="Poppins" panose="00000500000000000000" pitchFamily="2" charset="0"/>
              <a:cs typeface="Poppins" panose="00000500000000000000" pitchFamily="2" charset="0"/>
            </a:endParaRPr>
          </a:p>
        </p:txBody>
      </p:sp>
      <p:sp>
        <p:nvSpPr>
          <p:cNvPr id="4" name="Rectangle 1">
            <a:extLst>
              <a:ext uri="{FF2B5EF4-FFF2-40B4-BE49-F238E27FC236}">
                <a16:creationId xmlns:a16="http://schemas.microsoft.com/office/drawing/2014/main" id="{2E323A31-9C6E-3FDB-25A0-5C1A9383377B}"/>
              </a:ext>
            </a:extLst>
          </p:cNvPr>
          <p:cNvSpPr>
            <a:spLocks noChangeArrowheads="1"/>
          </p:cNvSpPr>
          <p:nvPr/>
        </p:nvSpPr>
        <p:spPr bwMode="auto">
          <a:xfrm>
            <a:off x="708782" y="2696338"/>
            <a:ext cx="5968464" cy="1295206"/>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S -&gt; Id = 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E -&gt; E+T | 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T -&gt; T*F | F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Consolas" panose="020B0609020204030204" pitchFamily="49" charset="0"/>
              </a:rPr>
              <a:t>F -&gt; Id | Integer constant</a:t>
            </a:r>
            <a:r>
              <a:rPr kumimoji="0" lang="en-US" altLang="en-US" sz="1100" b="0" i="0" u="none" strike="noStrike" cap="none" normalizeH="0" baseline="0" dirty="0">
                <a:ln>
                  <a:noFill/>
                </a:ln>
                <a:solidFill>
                  <a:schemeClr val="tx1"/>
                </a:solidFill>
                <a:effectLst/>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3075" name="Picture 3">
            <a:extLst>
              <a:ext uri="{FF2B5EF4-FFF2-40B4-BE49-F238E27FC236}">
                <a16:creationId xmlns:a16="http://schemas.microsoft.com/office/drawing/2014/main" id="{66517959-F4E4-6509-F984-574B202026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46248" y="2303627"/>
            <a:ext cx="3645527" cy="337583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B5351373-4981-CD41-6A0A-C3F3E197FBDC}"/>
              </a:ext>
            </a:extLst>
          </p:cNvPr>
          <p:cNvSpPr txBox="1"/>
          <p:nvPr/>
        </p:nvSpPr>
        <p:spPr>
          <a:xfrm>
            <a:off x="708782" y="4905158"/>
            <a:ext cx="6097772" cy="461665"/>
          </a:xfrm>
          <a:prstGeom prst="rect">
            <a:avLst/>
          </a:prstGeom>
          <a:noFill/>
        </p:spPr>
        <p:txBody>
          <a:bodyPr wrap="square">
            <a:spAutoFit/>
          </a:bodyPr>
          <a:lstStyle/>
          <a:p>
            <a:r>
              <a:rPr lang="en-IN" sz="2400" b="0" i="0" dirty="0">
                <a:solidFill>
                  <a:srgbClr val="273239"/>
                </a:solidFill>
                <a:effectLst/>
                <a:latin typeface="Nunito" pitchFamily="2" charset="0"/>
              </a:rPr>
              <a:t>SDT for the above expression is</a:t>
            </a:r>
            <a:endParaRPr lang="en-IN" sz="2400" dirty="0"/>
          </a:p>
        </p:txBody>
      </p:sp>
    </p:spTree>
    <p:extLst>
      <p:ext uri="{BB962C8B-B14F-4D97-AF65-F5344CB8AC3E}">
        <p14:creationId xmlns:p14="http://schemas.microsoft.com/office/powerpoint/2010/main" val="19613745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9A372-5583-81D0-9B0A-029E51074F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13BB0C-814A-80EC-8D68-8830AE55E14F}"/>
              </a:ext>
            </a:extLst>
          </p:cNvPr>
          <p:cNvSpPr>
            <a:spLocks noGrp="1"/>
          </p:cNvSpPr>
          <p:nvPr>
            <p:ph type="title"/>
          </p:nvPr>
        </p:nvSpPr>
        <p:spPr>
          <a:xfrm>
            <a:off x="485499" y="845491"/>
            <a:ext cx="11029616" cy="775770"/>
          </a:xfrm>
        </p:spPr>
        <p:txBody>
          <a:bodyPr/>
          <a:lstStyle/>
          <a:p>
            <a:r>
              <a:rPr lang="en-IN" dirty="0">
                <a:solidFill>
                  <a:srgbClr val="FFC000"/>
                </a:solidFill>
              </a:rPr>
              <a:t>Working Example</a:t>
            </a:r>
          </a:p>
        </p:txBody>
      </p:sp>
      <p:sp>
        <p:nvSpPr>
          <p:cNvPr id="3" name="Content Placeholder 2">
            <a:extLst>
              <a:ext uri="{FF2B5EF4-FFF2-40B4-BE49-F238E27FC236}">
                <a16:creationId xmlns:a16="http://schemas.microsoft.com/office/drawing/2014/main" id="{3FAB9996-BEE1-9CDC-6EBE-CC03E853711A}"/>
              </a:ext>
            </a:extLst>
          </p:cNvPr>
          <p:cNvSpPr>
            <a:spLocks noGrp="1"/>
          </p:cNvSpPr>
          <p:nvPr>
            <p:ph idx="1"/>
          </p:nvPr>
        </p:nvSpPr>
        <p:spPr>
          <a:xfrm>
            <a:off x="453603" y="2009551"/>
            <a:ext cx="11029615" cy="4710224"/>
          </a:xfrm>
        </p:spPr>
        <p:txBody>
          <a:bodyPr>
            <a:normAutofit/>
          </a:bodyPr>
          <a:lstStyle/>
          <a:p>
            <a:pPr marL="0" indent="0" algn="just">
              <a:lnSpc>
                <a:spcPct val="150000"/>
              </a:lnSpc>
              <a:buNone/>
            </a:pPr>
            <a:r>
              <a:rPr lang="en-IN" sz="2000" b="1" dirty="0">
                <a:solidFill>
                  <a:srgbClr val="000000"/>
                </a:solidFill>
                <a:latin typeface="Poppins" panose="00000500000000000000" pitchFamily="2" charset="0"/>
                <a:cs typeface="Poppins" panose="00000500000000000000" pitchFamily="2" charset="0"/>
              </a:rPr>
              <a:t>3</a:t>
            </a:r>
            <a:r>
              <a:rPr lang="en-IN" sz="2000" b="1" i="0" dirty="0">
                <a:solidFill>
                  <a:srgbClr val="000000"/>
                </a:solidFill>
                <a:effectLst/>
                <a:latin typeface="Poppins" panose="00000500000000000000" pitchFamily="2" charset="0"/>
                <a:cs typeface="Poppins" panose="00000500000000000000" pitchFamily="2" charset="0"/>
              </a:rPr>
              <a:t>. Semantic Analyzer:</a:t>
            </a:r>
          </a:p>
          <a:p>
            <a:pPr marL="457200" indent="-457200" algn="just">
              <a:lnSpc>
                <a:spcPct val="150000"/>
              </a:lnSpc>
              <a:buAutoNum type="arabicPeriod"/>
            </a:pPr>
            <a:endParaRPr lang="en-IN" sz="2000" b="1" dirty="0">
              <a:solidFill>
                <a:srgbClr val="000000"/>
              </a:solidFill>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i="0" dirty="0">
              <a:solidFill>
                <a:srgbClr val="000000"/>
              </a:solidFill>
              <a:effectLst/>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dirty="0">
              <a:solidFill>
                <a:srgbClr val="000000"/>
              </a:solidFill>
              <a:latin typeface="Poppins" panose="00000500000000000000" pitchFamily="2" charset="0"/>
              <a:cs typeface="Poppins" panose="00000500000000000000" pitchFamily="2" charset="0"/>
            </a:endParaRPr>
          </a:p>
          <a:p>
            <a:pPr marL="457200" indent="-457200" algn="just">
              <a:lnSpc>
                <a:spcPct val="150000"/>
              </a:lnSpc>
              <a:buAutoNum type="arabicPeriod"/>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i="0" dirty="0">
              <a:solidFill>
                <a:srgbClr val="000000"/>
              </a:solidFill>
              <a:effectLst/>
              <a:latin typeface="Poppins" panose="00000500000000000000" pitchFamily="2" charset="0"/>
              <a:cs typeface="Poppins" panose="00000500000000000000" pitchFamily="2" charset="0"/>
            </a:endParaRPr>
          </a:p>
          <a:p>
            <a:pPr marL="0" indent="0" algn="just">
              <a:lnSpc>
                <a:spcPct val="150000"/>
              </a:lnSpc>
              <a:buNone/>
            </a:pPr>
            <a:endParaRPr lang="en-IN" sz="2000" b="1" dirty="0">
              <a:solidFill>
                <a:srgbClr val="000000"/>
              </a:solidFill>
              <a:latin typeface="Poppins" panose="00000500000000000000" pitchFamily="2" charset="0"/>
              <a:cs typeface="Poppins" panose="00000500000000000000" pitchFamily="2" charset="0"/>
            </a:endParaRPr>
          </a:p>
          <a:p>
            <a:pPr marL="0" indent="0" algn="just">
              <a:lnSpc>
                <a:spcPct val="150000"/>
              </a:lnSpc>
              <a:buNone/>
            </a:pPr>
            <a:endParaRPr lang="en-IN" sz="2000" b="0" i="0" dirty="0">
              <a:solidFill>
                <a:srgbClr val="36393E"/>
              </a:solidFill>
              <a:effectLst/>
              <a:latin typeface="Poppins" panose="00000500000000000000" pitchFamily="2" charset="0"/>
              <a:cs typeface="Poppins" panose="00000500000000000000" pitchFamily="2" charset="0"/>
            </a:endParaRPr>
          </a:p>
        </p:txBody>
      </p:sp>
      <p:pic>
        <p:nvPicPr>
          <p:cNvPr id="4098" name="Picture 2">
            <a:extLst>
              <a:ext uri="{FF2B5EF4-FFF2-40B4-BE49-F238E27FC236}">
                <a16:creationId xmlns:a16="http://schemas.microsoft.com/office/drawing/2014/main" id="{A87862BE-FDA6-3081-A963-D0C272CDC5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7272" y="1854696"/>
            <a:ext cx="6574738" cy="4710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3501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AEE8B-8549-FB0B-AB69-40AE8FEA4F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90953-EAEC-DD7B-746C-37CC5284657F}"/>
              </a:ext>
            </a:extLst>
          </p:cNvPr>
          <p:cNvSpPr>
            <a:spLocks noGrp="1"/>
          </p:cNvSpPr>
          <p:nvPr>
            <p:ph type="title"/>
          </p:nvPr>
        </p:nvSpPr>
        <p:spPr>
          <a:xfrm>
            <a:off x="485499" y="845491"/>
            <a:ext cx="11029616" cy="775770"/>
          </a:xfrm>
        </p:spPr>
        <p:txBody>
          <a:bodyPr/>
          <a:lstStyle/>
          <a:p>
            <a:r>
              <a:rPr lang="en-IN" dirty="0">
                <a:solidFill>
                  <a:srgbClr val="FFC000"/>
                </a:solidFill>
              </a:rPr>
              <a:t>Working Example</a:t>
            </a:r>
          </a:p>
        </p:txBody>
      </p:sp>
      <p:sp>
        <p:nvSpPr>
          <p:cNvPr id="6" name="Rectangle 1">
            <a:extLst>
              <a:ext uri="{FF2B5EF4-FFF2-40B4-BE49-F238E27FC236}">
                <a16:creationId xmlns:a16="http://schemas.microsoft.com/office/drawing/2014/main" id="{22C72B37-C13B-2901-FDDD-F33D466D3564}"/>
              </a:ext>
            </a:extLst>
          </p:cNvPr>
          <p:cNvSpPr>
            <a:spLocks noChangeArrowheads="1"/>
          </p:cNvSpPr>
          <p:nvPr/>
        </p:nvSpPr>
        <p:spPr bwMode="auto">
          <a:xfrm>
            <a:off x="485499" y="1952106"/>
            <a:ext cx="11029616" cy="480385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634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strike="noStrike" cap="none" normalizeH="0" baseline="0" dirty="0">
              <a:ln>
                <a:noFill/>
              </a:ln>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strike="noStrike" cap="none" normalizeH="0" baseline="0" dirty="0">
                <a:ln>
                  <a:noFill/>
                </a:ln>
                <a:effectLst/>
                <a:latin typeface="Nunito" pitchFamily="2" charset="0"/>
                <a:hlinkClick r:id="rId2">
                  <a:extLst>
                    <a:ext uri="{A12FA001-AC4F-418D-AE19-62706E023703}">
                      <ahyp:hlinkClr xmlns:ahyp="http://schemas.microsoft.com/office/drawing/2018/hyperlinkcolor" val="tx"/>
                    </a:ext>
                  </a:extLst>
                </a:hlinkClick>
              </a:rPr>
              <a:t>4. Intermediate Code Generator</a:t>
            </a:r>
            <a:r>
              <a:rPr kumimoji="0" lang="en-US" altLang="en-US" b="1" i="0" strike="noStrike" cap="none" normalizeH="0" baseline="0" dirty="0">
                <a:ln>
                  <a:noFill/>
                </a:ln>
                <a:effectLst/>
                <a:latin typeface="Nunito" pitchFamily="2" charset="0"/>
              </a:rPr>
              <a:t> : 3 Address Code –</a:t>
            </a:r>
            <a:endParaRPr kumimoji="0" lang="en-US" altLang="en-US" b="0" i="0" strike="noStrike" cap="none" normalizeH="0" baseline="0" dirty="0">
              <a:ln>
                <a:noFill/>
              </a:ln>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effectLst/>
                <a:latin typeface="Consolas" panose="020B0609020204030204" pitchFamily="49" charset="0"/>
              </a:rPr>
              <a:t>t1 = b * 50.0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effectLst/>
                <a:latin typeface="Consolas" panose="020B0609020204030204" pitchFamily="49" charset="0"/>
              </a:rPr>
              <a:t>t2 = a+t1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strike="noStrike" cap="none" normalizeH="0" baseline="0" dirty="0">
                <a:ln>
                  <a:noFill/>
                </a:ln>
                <a:effectLst/>
                <a:latin typeface="Consolas" panose="020B0609020204030204" pitchFamily="49" charset="0"/>
              </a:rPr>
              <a:t>x = t2</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strike="noStrike" cap="none" normalizeH="0" baseline="0" dirty="0">
              <a:ln>
                <a:noFill/>
              </a:ln>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sng" strike="noStrike" cap="none" normalizeH="0" baseline="0" dirty="0">
                <a:ln>
                  <a:noFill/>
                </a:ln>
                <a:effectLst/>
                <a:latin typeface="Nunito" pitchFamily="2" charset="0"/>
                <a:hlinkClick r:id="rId3">
                  <a:extLst>
                    <a:ext uri="{A12FA001-AC4F-418D-AE19-62706E023703}">
                      <ahyp:hlinkClr xmlns:ahyp="http://schemas.microsoft.com/office/drawing/2018/hyperlinkcolor" val="tx"/>
                    </a:ext>
                  </a:extLst>
                </a:hlinkClick>
              </a:rPr>
              <a:t>5. Code Optimizer</a:t>
            </a:r>
            <a:r>
              <a:rPr kumimoji="0" lang="en-US" altLang="en-US" b="1" i="0" u="sng" strike="noStrike" cap="none" normalizeH="0" baseline="0" dirty="0">
                <a:ln>
                  <a:noFill/>
                </a:ln>
                <a:effectLst/>
                <a:latin typeface="Nunito" pitchFamily="2" charset="0"/>
              </a:rPr>
              <a:t> :</a:t>
            </a:r>
            <a:br>
              <a:rPr kumimoji="0" lang="en-US" altLang="en-US" b="0" i="0" u="none" strike="noStrike" cap="none" normalizeH="0" baseline="0" dirty="0">
                <a:ln>
                  <a:noFill/>
                </a:ln>
                <a:effectLst/>
                <a:latin typeface="Nunito" pitchFamily="2" charset="0"/>
              </a:rPr>
            </a:br>
            <a:r>
              <a:rPr kumimoji="0" lang="en-US" altLang="en-US" b="0" i="0" u="none" strike="noStrike" cap="none" normalizeH="0" baseline="0" dirty="0">
                <a:ln>
                  <a:noFill/>
                </a:ln>
                <a:effectLst/>
                <a:latin typeface="Nunito" pitchFamily="2" charset="0"/>
              </a:rPr>
              <a:t>I.</a:t>
            </a:r>
            <a:r>
              <a:rPr kumimoji="0" lang="en-US" altLang="en-US" b="0" i="0" u="none" strike="noStrike" cap="none" normalizeH="0" baseline="0" dirty="0">
                <a:ln>
                  <a:noFill/>
                </a:ln>
                <a:effectLst/>
                <a:latin typeface="Consolas" panose="020B0609020204030204" pitchFamily="49" charset="0"/>
              </a:rPr>
              <a:t>t1 = b* 50.0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effectLst/>
                <a:latin typeface="Consolas" panose="020B0609020204030204" pitchFamily="49" charset="0"/>
              </a:rPr>
              <a:t>x = a+ t1</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sng" strike="noStrike" cap="none" normalizeH="0" baseline="0" dirty="0">
              <a:ln>
                <a:noFill/>
              </a:ln>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sng" strike="noStrike" cap="none" normalizeH="0" baseline="0" dirty="0">
                <a:ln>
                  <a:noFill/>
                </a:ln>
                <a:effectLst/>
                <a:latin typeface="Nunito" pitchFamily="2" charset="0"/>
              </a:rPr>
              <a:t>6. Target Code Generator :</a:t>
            </a:r>
            <a:br>
              <a:rPr kumimoji="0" lang="en-US" altLang="en-US" b="0" i="0" u="sng" strike="noStrike" cap="none" normalizeH="0" baseline="0" dirty="0">
                <a:ln>
                  <a:noFill/>
                </a:ln>
                <a:effectLst/>
                <a:latin typeface="Nunito" pitchFamily="2" charset="0"/>
              </a:rPr>
            </a:br>
            <a:r>
              <a:rPr kumimoji="0" lang="en-US" altLang="en-US" b="0" i="0" u="none" strike="noStrike" cap="none" normalizeH="0" baseline="0" dirty="0">
                <a:ln>
                  <a:noFill/>
                </a:ln>
                <a:effectLst/>
                <a:latin typeface="Nunito" pitchFamily="2" charset="0"/>
              </a:rPr>
              <a:t>The final expression into assembly code.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effectLst/>
                <a:latin typeface="Consolas" panose="020B0609020204030204" pitchFamily="49" charset="0"/>
              </a:rPr>
              <a:t>Mul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effectLst/>
                <a:latin typeface="Consolas" panose="020B0609020204030204" pitchFamily="49" charset="0"/>
              </a:rPr>
              <a:t>Add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effectLst/>
                <a:latin typeface="Consolas" panose="020B0609020204030204" pitchFamily="49" charset="0"/>
              </a:rPr>
              <a:t>Store</a:t>
            </a:r>
            <a:endParaRPr kumimoji="0" lang="en-US" altLang="en-US" b="0" i="0" u="none" strike="noStrike" cap="none" normalizeH="0" baseline="0" dirty="0">
              <a:ln>
                <a:noFill/>
              </a:ln>
              <a:effectLst/>
              <a:latin typeface="Nunito"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2617705046"/>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TM03457464[[fn=Dividend]]</Template>
  <TotalTime>472</TotalTime>
  <Words>1403</Words>
  <Application>Microsoft Office PowerPoint</Application>
  <PresentationFormat>Widescreen</PresentationFormat>
  <Paragraphs>163</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Consolas</vt:lpstr>
      <vt:lpstr>Gill Sans MT</vt:lpstr>
      <vt:lpstr>Nunito</vt:lpstr>
      <vt:lpstr>Poppins</vt:lpstr>
      <vt:lpstr>Wingdings</vt:lpstr>
      <vt:lpstr>Wingdings 2</vt:lpstr>
      <vt:lpstr>Dividend</vt:lpstr>
      <vt:lpstr>compiler</vt:lpstr>
      <vt:lpstr>What is a Compiler?</vt:lpstr>
      <vt:lpstr>the Phases of Compiler</vt:lpstr>
      <vt:lpstr>lexical analysis</vt:lpstr>
      <vt:lpstr>Roles and Responsibilities of Lexical Analyzer</vt:lpstr>
      <vt:lpstr>syntax analysis</vt:lpstr>
      <vt:lpstr>Roles and Responsibilities of  syntax analyzer</vt:lpstr>
      <vt:lpstr>Semantic analysis</vt:lpstr>
      <vt:lpstr>Roles and Responsibilities of  semantic analyzer</vt:lpstr>
      <vt:lpstr>Intermediate code generation</vt:lpstr>
      <vt:lpstr>Roles and Responsibilities </vt:lpstr>
      <vt:lpstr>code optimizer</vt:lpstr>
      <vt:lpstr>Roles and Responsibilities </vt:lpstr>
      <vt:lpstr>code generator</vt:lpstr>
      <vt:lpstr>Symbol table</vt:lpstr>
      <vt:lpstr>Objective of Symbol table</vt:lpstr>
      <vt:lpstr>Format of Symbol table</vt:lpstr>
      <vt:lpstr>Symbol table operation</vt:lpstr>
      <vt:lpstr>Symbol table operation</vt:lpstr>
      <vt:lpstr>Data structures</vt:lpstr>
      <vt:lpstr>Working Example</vt:lpstr>
      <vt:lpstr>Working Example</vt:lpstr>
      <vt:lpstr>Working Example</vt:lpstr>
      <vt:lpstr>Working Example</vt:lpstr>
      <vt:lpstr>Working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compiler</dc:title>
  <dc:creator>Dr. Ajay Kumar [MU - Jaipur]</dc:creator>
  <cp:lastModifiedBy>Dr. Ajay Kumar [MU - Jaipur]</cp:lastModifiedBy>
  <cp:revision>7</cp:revision>
  <dcterms:created xsi:type="dcterms:W3CDTF">2023-11-16T03:45:04Z</dcterms:created>
  <dcterms:modified xsi:type="dcterms:W3CDTF">2024-11-18T10:23:32Z</dcterms:modified>
</cp:coreProperties>
</file>