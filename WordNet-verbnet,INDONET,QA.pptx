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jpg" ContentType="image/jp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16984" y="2478735"/>
            <a:ext cx="3191763" cy="11400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552" y="2835020"/>
            <a:ext cx="10493375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dirty="0" sz="6000" spc="-210">
                <a:latin typeface="Trebuchet MS"/>
                <a:cs typeface="Trebuchet MS"/>
              </a:rPr>
              <a:t>WordNet</a:t>
            </a:r>
            <a:endParaRPr sz="6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002" y="981075"/>
            <a:ext cx="9913493" cy="54754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9247" y="702500"/>
            <a:ext cx="8686800" cy="50744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78" y="747102"/>
            <a:ext cx="9924542" cy="4928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76567" y="2090165"/>
            <a:ext cx="1461770" cy="281940"/>
          </a:xfrm>
          <a:custGeom>
            <a:avLst/>
            <a:gdLst/>
            <a:ahLst/>
            <a:cxnLst/>
            <a:rect l="l" t="t" r="r" b="b"/>
            <a:pathLst>
              <a:path w="1461770" h="281939">
                <a:moveTo>
                  <a:pt x="1461516" y="0"/>
                </a:moveTo>
                <a:lnTo>
                  <a:pt x="696468" y="0"/>
                </a:lnTo>
                <a:lnTo>
                  <a:pt x="0" y="0"/>
                </a:lnTo>
                <a:lnTo>
                  <a:pt x="0" y="281940"/>
                </a:lnTo>
                <a:lnTo>
                  <a:pt x="696468" y="281940"/>
                </a:lnTo>
                <a:lnTo>
                  <a:pt x="1461516" y="281940"/>
                </a:lnTo>
                <a:lnTo>
                  <a:pt x="146151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76567" y="1632966"/>
            <a:ext cx="10855960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5"/>
              </a:lnSpc>
            </a:pPr>
            <a:r>
              <a:rPr dirty="0" sz="2000" spc="-10" b="1">
                <a:latin typeface="Times New Roman"/>
                <a:cs typeface="Times New Roman"/>
              </a:rPr>
              <a:t>WordNet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is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large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lexical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database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English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language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that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groups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words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into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sets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synonyms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4032" y="1894179"/>
            <a:ext cx="10756900" cy="3226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8763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called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synsets</a:t>
            </a:r>
            <a:r>
              <a:rPr dirty="0" sz="2000">
                <a:latin typeface="Times New Roman"/>
                <a:cs typeface="Times New Roman"/>
              </a:rPr>
              <a:t>.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short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definitions,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usage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examples,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various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semantic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relationships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between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synonym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sets, making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valuable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Natural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(NLP)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computational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linguistics.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Here’s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detailed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overview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WordNet:</a:t>
            </a:r>
            <a:endParaRPr sz="20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What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WordNet?</a:t>
            </a:r>
            <a:endParaRPr sz="2000">
              <a:latin typeface="Times New Roman"/>
              <a:cs typeface="Times New Roman"/>
            </a:endParaRPr>
          </a:p>
          <a:p>
            <a:pPr algn="just" marL="12700" marR="5080" indent="-9525">
              <a:lnSpc>
                <a:spcPct val="15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spc="-25" b="1">
                <a:latin typeface="Times New Roman"/>
                <a:cs typeface="Times New Roman"/>
              </a:rPr>
              <a:t>	</a:t>
            </a:r>
            <a:r>
              <a:rPr dirty="0" sz="2000" spc="-25" b="1">
                <a:latin typeface="Times New Roman"/>
                <a:cs typeface="Times New Roman"/>
              </a:rPr>
              <a:t>WordNet</a:t>
            </a:r>
            <a:r>
              <a:rPr dirty="0" sz="2000" spc="-25">
                <a:latin typeface="Times New Roman"/>
                <a:cs typeface="Times New Roman"/>
              </a:rPr>
              <a:t>: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lexical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database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organizes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English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sets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synonyms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(synsets)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connects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synsets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through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various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semantic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lexical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relationships.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Princeton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University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widely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NLP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2917" y="1053417"/>
            <a:ext cx="11530965" cy="322643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000" b="1">
                <a:latin typeface="Times New Roman"/>
                <a:cs typeface="Times New Roman"/>
              </a:rPr>
              <a:t>Structure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WordNet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10" b="1">
                <a:latin typeface="Times New Roman"/>
                <a:cs typeface="Times New Roman"/>
              </a:rPr>
              <a:t>1.Synsets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755015" marR="5080" indent="-285750">
              <a:lnSpc>
                <a:spcPct val="150000"/>
              </a:lnSpc>
              <a:buAutoNum type="arabicPeriod"/>
              <a:tabLst>
                <a:tab pos="756285" algn="l"/>
              </a:tabLst>
            </a:pPr>
            <a:r>
              <a:rPr dirty="0" sz="2000" b="1">
                <a:latin typeface="Times New Roman"/>
                <a:cs typeface="Times New Roman"/>
              </a:rPr>
              <a:t>Synonym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Sets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core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concept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WordNet,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synset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distinct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concept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meaning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groups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together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synonymous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context.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example,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synset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{car,</a:t>
            </a:r>
            <a:r>
              <a:rPr dirty="0" sz="2000" spc="500">
                <a:latin typeface="Times New Roman"/>
                <a:cs typeface="Times New Roman"/>
              </a:rPr>
              <a:t> </a:t>
            </a:r>
            <a:r>
              <a:rPr dirty="0" sz="2000" spc="50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automobile}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refers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motor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vehicle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four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wheels.</a:t>
            </a:r>
            <a:endParaRPr sz="2000">
              <a:latin typeface="Times New Roman"/>
              <a:cs typeface="Times New Roman"/>
            </a:endParaRPr>
          </a:p>
          <a:p>
            <a:pPr marL="755015" marR="259079" indent="-285750">
              <a:lnSpc>
                <a:spcPct val="150000"/>
              </a:lnSpc>
              <a:spcBef>
                <a:spcPts val="5"/>
              </a:spcBef>
              <a:buAutoNum type="arabicPeriod"/>
              <a:tabLst>
                <a:tab pos="756285" algn="l"/>
              </a:tabLst>
            </a:pPr>
            <a:r>
              <a:rPr dirty="0" sz="2000" b="1">
                <a:latin typeface="Times New Roman"/>
                <a:cs typeface="Times New Roman"/>
              </a:rPr>
              <a:t>Gloss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synset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accompanied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 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gloss—a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brief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definition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description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concept—and,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in </a:t>
            </a:r>
            <a:r>
              <a:rPr dirty="0" sz="2000" spc="-25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many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cases,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example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sentences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illustrating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use.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1497" y="841349"/>
            <a:ext cx="10529570" cy="45980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02565" indent="-193675">
              <a:lnSpc>
                <a:spcPct val="100000"/>
              </a:lnSpc>
              <a:spcBef>
                <a:spcPts val="1300"/>
              </a:spcBef>
              <a:buSzPct val="95000"/>
              <a:buFont typeface="Times New Roman"/>
              <a:buAutoNum type="arabicPeriod"/>
              <a:tabLst>
                <a:tab pos="202565" algn="l"/>
              </a:tabLst>
            </a:pPr>
            <a:r>
              <a:rPr dirty="0" sz="2000" b="1">
                <a:latin typeface="Times New Roman"/>
                <a:cs typeface="Times New Roman"/>
              </a:rPr>
              <a:t>Semantic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Relations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75565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Hyponymy/Hypernymy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r>
              <a:rPr dirty="0" sz="2000" spc="-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hierarchical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relationship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hyponym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(subordinate)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</a:t>
            </a:r>
            <a:r>
              <a:rPr dirty="0" sz="2000" spc="-20">
                <a:latin typeface="Times New Roman"/>
                <a:cs typeface="Times New Roman"/>
              </a:rPr>
              <a:t>more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specific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instance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hypernym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(superordinate).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example,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“dog”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hyponym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“animal.”</a:t>
            </a:r>
            <a:endParaRPr sz="2000">
              <a:latin typeface="Times New Roman"/>
              <a:cs typeface="Times New Roman"/>
            </a:endParaRPr>
          </a:p>
          <a:p>
            <a:pPr lvl="1" marL="755015" indent="-285115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75501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Meronymy/Holonymy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r>
              <a:rPr dirty="0" sz="2000" spc="-1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A</a:t>
            </a:r>
            <a:r>
              <a:rPr dirty="0" sz="2000" spc="-1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part-</a:t>
            </a:r>
            <a:r>
              <a:rPr dirty="0" sz="2000">
                <a:latin typeface="Times New Roman"/>
                <a:cs typeface="Times New Roman"/>
              </a:rPr>
              <a:t>whole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relationship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meronym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 a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holonym.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For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instance,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“wheel”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meronym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“car.”</a:t>
            </a:r>
            <a:endParaRPr sz="20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1200"/>
              </a:spcBef>
              <a:buAutoNum type="arabicPeriod" startAt="3"/>
              <a:tabLst>
                <a:tab pos="755650" algn="l"/>
              </a:tabLst>
            </a:pPr>
            <a:r>
              <a:rPr dirty="0" sz="2000" b="1">
                <a:latin typeface="Times New Roman"/>
                <a:cs typeface="Times New Roman"/>
              </a:rPr>
              <a:t>Antonymy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Pairs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opposite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meanings,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“hot”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“cold.”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Lexical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Relations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Synonymy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have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similar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meanings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interchangeable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some</a:t>
            </a:r>
            <a:r>
              <a:rPr dirty="0" sz="2000" spc="-10">
                <a:latin typeface="Times New Roman"/>
                <a:cs typeface="Times New Roman"/>
              </a:rPr>
              <a:t> contexts.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Antonymy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opposite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meanings,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often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connected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directly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WordNet.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4619" y="3141598"/>
            <a:ext cx="7644765" cy="338455"/>
          </a:xfrm>
          <a:custGeom>
            <a:avLst/>
            <a:gdLst/>
            <a:ahLst/>
            <a:cxnLst/>
            <a:rect l="l" t="t" r="r" b="b"/>
            <a:pathLst>
              <a:path w="7644765" h="338454">
                <a:moveTo>
                  <a:pt x="7644383" y="0"/>
                </a:moveTo>
                <a:lnTo>
                  <a:pt x="0" y="0"/>
                </a:lnTo>
                <a:lnTo>
                  <a:pt x="0" y="338327"/>
                </a:lnTo>
                <a:lnTo>
                  <a:pt x="7644383" y="338327"/>
                </a:lnTo>
                <a:lnTo>
                  <a:pt x="76443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34619" y="2592958"/>
            <a:ext cx="10642600" cy="33845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85"/>
              </a:lnSpc>
            </a:pP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1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synset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(synonym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set)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group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words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phrases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that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share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same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very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21893" y="2908300"/>
            <a:ext cx="1033399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similar</a:t>
            </a:r>
            <a:r>
              <a:rPr dirty="0" sz="2400" spc="-11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meanings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are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interchangeable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some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contexts</a:t>
            </a:r>
            <a:r>
              <a:rPr dirty="0" sz="2400">
                <a:latin typeface="Times New Roman"/>
                <a:cs typeface="Times New Roman"/>
              </a:rPr>
              <a:t>.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represents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single </a:t>
            </a:r>
            <a:r>
              <a:rPr dirty="0" sz="2400">
                <a:latin typeface="Times New Roman"/>
                <a:cs typeface="Times New Roman"/>
              </a:rPr>
              <a:t>concept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meaning.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synset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includes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brief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definition,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example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sentences,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 </a:t>
            </a:r>
            <a:r>
              <a:rPr dirty="0" sz="2400">
                <a:latin typeface="Times New Roman"/>
                <a:cs typeface="Times New Roman"/>
              </a:rPr>
              <a:t>information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about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synsets.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4525" y="1010999"/>
            <a:ext cx="11458575" cy="276923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000" b="1">
                <a:latin typeface="Times New Roman"/>
                <a:cs typeface="Times New Roman"/>
              </a:rPr>
              <a:t>Importance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NLP</a:t>
            </a:r>
            <a:endParaRPr sz="2000">
              <a:latin typeface="Times New Roman"/>
              <a:cs typeface="Times New Roman"/>
            </a:endParaRPr>
          </a:p>
          <a:p>
            <a:pPr marL="201930" indent="-193675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0193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Word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Sense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Disambiguation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(WSD)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WordNet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WSD,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determine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which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sense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word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particular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context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leveraging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 synsets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relationships.</a:t>
            </a:r>
            <a:endParaRPr sz="2000">
              <a:latin typeface="Times New Roman"/>
              <a:cs typeface="Times New Roman"/>
            </a:endParaRPr>
          </a:p>
          <a:p>
            <a:pPr marL="202565" indent="-193675">
              <a:lnSpc>
                <a:spcPct val="100000"/>
              </a:lnSpc>
              <a:spcBef>
                <a:spcPts val="1200"/>
              </a:spcBef>
              <a:buSzPct val="95000"/>
              <a:buAutoNum type="arabicPeriod" startAt="2"/>
              <a:tabLst>
                <a:tab pos="202565" algn="l"/>
              </a:tabLst>
            </a:pPr>
            <a:r>
              <a:rPr dirty="0" sz="2000" b="1">
                <a:latin typeface="Times New Roman"/>
                <a:cs typeface="Times New Roman"/>
              </a:rPr>
              <a:t>Semantic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Similarity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Relatedness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 spc="-30">
                <a:latin typeface="Times New Roman"/>
                <a:cs typeface="Times New Roman"/>
              </a:rPr>
              <a:t>WordNet’s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calculation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semantic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similarity</a:t>
            </a:r>
            <a:r>
              <a:rPr dirty="0" sz="2000" spc="-25">
                <a:latin typeface="Times New Roman"/>
                <a:cs typeface="Times New Roman"/>
              </a:rPr>
              <a:t> and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relatedness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distance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connections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synsets.</a:t>
            </a:r>
            <a:endParaRPr sz="2000">
              <a:latin typeface="Times New Roman"/>
              <a:cs typeface="Times New Roman"/>
            </a:endParaRPr>
          </a:p>
          <a:p>
            <a:pPr marL="202565" indent="-193675">
              <a:lnSpc>
                <a:spcPct val="100000"/>
              </a:lnSpc>
              <a:spcBef>
                <a:spcPts val="1205"/>
              </a:spcBef>
              <a:buSzPct val="95000"/>
              <a:buAutoNum type="arabicPeriod" startAt="3"/>
              <a:tabLst>
                <a:tab pos="202565" algn="l"/>
              </a:tabLst>
            </a:pPr>
            <a:r>
              <a:rPr dirty="0" sz="2000" spc="-30" b="1">
                <a:latin typeface="Times New Roman"/>
                <a:cs typeface="Times New Roman"/>
              </a:rPr>
              <a:t>Text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Understanding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Generation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WordNet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enhance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text,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supporting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4525" y="3906139"/>
            <a:ext cx="5346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Times New Roman"/>
                <a:cs typeface="Times New Roman"/>
              </a:rPr>
              <a:t>tasks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7227" y="3949953"/>
            <a:ext cx="7724140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60"/>
              </a:lnSpc>
            </a:pPr>
            <a:r>
              <a:rPr dirty="0" sz="2000" b="1">
                <a:latin typeface="Times New Roman"/>
                <a:cs typeface="Times New Roman"/>
              </a:rPr>
              <a:t>like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question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answering,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text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summarization,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automated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reasoning.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4525" y="4212034"/>
            <a:ext cx="10667365" cy="93980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000" b="1">
                <a:latin typeface="Times New Roman"/>
                <a:cs typeface="Times New Roman"/>
              </a:rPr>
              <a:t>4.Information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Retrieval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Synsets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semantic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relationships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WordNet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results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expanding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queries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include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synonyms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concepts.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560828" y="2111374"/>
            <a:ext cx="3479800" cy="281940"/>
          </a:xfrm>
          <a:custGeom>
            <a:avLst/>
            <a:gdLst/>
            <a:ahLst/>
            <a:cxnLst/>
            <a:rect l="l" t="t" r="r" b="b"/>
            <a:pathLst>
              <a:path w="3479800" h="281939">
                <a:moveTo>
                  <a:pt x="3479292" y="0"/>
                </a:moveTo>
                <a:lnTo>
                  <a:pt x="1894332" y="0"/>
                </a:lnTo>
                <a:lnTo>
                  <a:pt x="1810512" y="0"/>
                </a:lnTo>
                <a:lnTo>
                  <a:pt x="0" y="0"/>
                </a:lnTo>
                <a:lnTo>
                  <a:pt x="0" y="281940"/>
                </a:lnTo>
                <a:lnTo>
                  <a:pt x="1810512" y="281940"/>
                </a:lnTo>
                <a:lnTo>
                  <a:pt x="1894332" y="281940"/>
                </a:lnTo>
                <a:lnTo>
                  <a:pt x="3479292" y="281940"/>
                </a:lnTo>
                <a:lnTo>
                  <a:pt x="347929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87197" y="1000734"/>
            <a:ext cx="10373995" cy="36836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latin typeface="Times New Roman"/>
                <a:cs typeface="Times New Roman"/>
              </a:rPr>
              <a:t>Challenges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Limitations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Coverage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While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extensive,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WordNet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exhaustive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 may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lack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coverage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 </a:t>
            </a:r>
            <a:r>
              <a:rPr dirty="0" sz="2000" spc="-10">
                <a:latin typeface="Times New Roman"/>
                <a:cs typeface="Times New Roman"/>
              </a:rPr>
              <a:t>certain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contemporary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terms,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slang,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or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domain-</a:t>
            </a:r>
            <a:r>
              <a:rPr dirty="0" sz="2000" b="1">
                <a:latin typeface="Times New Roman"/>
                <a:cs typeface="Times New Roman"/>
              </a:rPr>
              <a:t>specific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jargon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195580" indent="-9525">
              <a:lnSpc>
                <a:spcPct val="15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b="1">
                <a:latin typeface="Times New Roman"/>
                <a:cs typeface="Times New Roman"/>
              </a:rPr>
              <a:t>Language-Specific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WordNet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primarily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focused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English.</a:t>
            </a:r>
            <a:r>
              <a:rPr dirty="0" sz="2000" spc="-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Although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similar</a:t>
            </a:r>
            <a:r>
              <a:rPr dirty="0" sz="2000" spc="-10">
                <a:latin typeface="Times New Roman"/>
                <a:cs typeface="Times New Roman"/>
              </a:rPr>
              <a:t> projects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(e.g.,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EuroWordNet,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Global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WordNet),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separate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not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10">
                <a:latin typeface="Times New Roman"/>
                <a:cs typeface="Times New Roman"/>
              </a:rPr>
              <a:t> extensive.</a:t>
            </a:r>
            <a:endParaRPr sz="2000">
              <a:latin typeface="Times New Roman"/>
              <a:cs typeface="Times New Roman"/>
            </a:endParaRPr>
          </a:p>
          <a:p>
            <a:pPr marL="12700" marR="5080" indent="-9525">
              <a:lnSpc>
                <a:spcPct val="15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b="1">
                <a:latin typeface="Times New Roman"/>
                <a:cs typeface="Times New Roman"/>
              </a:rPr>
              <a:t>Static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Resource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WordNet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relatively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static,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meaning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doesn’t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continuously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include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new </a:t>
            </a: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usages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emerge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time,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unlike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dynamic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resources.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4032" y="149050"/>
            <a:ext cx="11250295" cy="642747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000" b="1">
                <a:latin typeface="Times New Roman"/>
                <a:cs typeface="Times New Roman"/>
              </a:rPr>
              <a:t>Examples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 Use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NLP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Information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Retrieval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Enhancing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engines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return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relevant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results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expanding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search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queries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synonyms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terms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WordNet.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spc="-30" b="1">
                <a:latin typeface="Times New Roman"/>
                <a:cs typeface="Times New Roman"/>
              </a:rPr>
              <a:t>Text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Summarization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Utilizing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WordNet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ensure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summaries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include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important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concepts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relationships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ideas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text.</a:t>
            </a:r>
            <a:endParaRPr sz="2000">
              <a:latin typeface="Times New Roman"/>
              <a:cs typeface="Times New Roman"/>
            </a:endParaRPr>
          </a:p>
          <a:p>
            <a:pPr marL="12700" marR="990600" indent="-9525">
              <a:lnSpc>
                <a:spcPct val="15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b="1">
                <a:latin typeface="Times New Roman"/>
                <a:cs typeface="Times New Roman"/>
              </a:rPr>
              <a:t>Machine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Translation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translation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quality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WordNet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most</a:t>
            </a:r>
            <a:r>
              <a:rPr dirty="0" sz="2000" spc="-10">
                <a:latin typeface="Times New Roman"/>
                <a:cs typeface="Times New Roman"/>
              </a:rPr>
              <a:t> appropriate </a:t>
            </a:r>
            <a:r>
              <a:rPr dirty="0" sz="2000">
                <a:latin typeface="Times New Roman"/>
                <a:cs typeface="Times New Roman"/>
              </a:rPr>
              <a:t>translations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ambiguous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words.</a:t>
            </a:r>
            <a:endParaRPr sz="2000">
              <a:latin typeface="Times New Roman"/>
              <a:cs typeface="Times New Roman"/>
            </a:endParaRPr>
          </a:p>
          <a:p>
            <a:pPr marL="12700" marR="876300" indent="-9525">
              <a:lnSpc>
                <a:spcPts val="3600"/>
              </a:lnSpc>
              <a:spcBef>
                <a:spcPts val="32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b="1">
                <a:latin typeface="Times New Roman"/>
                <a:cs typeface="Times New Roman"/>
              </a:rPr>
              <a:t>Chatbots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Virtual</a:t>
            </a:r>
            <a:r>
              <a:rPr dirty="0" sz="2000" spc="-1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Assistants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WordNet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queries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better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by </a:t>
            </a:r>
            <a:r>
              <a:rPr dirty="0" sz="2000">
                <a:latin typeface="Times New Roman"/>
                <a:cs typeface="Times New Roman"/>
              </a:rPr>
              <a:t>recognizing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synonyms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concepts,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leading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responses.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2000" spc="-10" b="1">
                <a:latin typeface="Times New Roman"/>
                <a:cs typeface="Times New Roman"/>
              </a:rPr>
              <a:t>Conclusion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20">
                <a:latin typeface="Times New Roman"/>
                <a:cs typeface="Times New Roman"/>
              </a:rPr>
              <a:t>WordNet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foundational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field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NLP,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utilize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meanings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relationships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English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language.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span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range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tasks,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engines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aiding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development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intelligent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conversational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agents.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Despite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limitations,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WordNet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remains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crucial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tool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linguists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NLP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practitioners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alike.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6984" y="2636647"/>
            <a:ext cx="210185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80" b="1">
                <a:latin typeface="Trebuchet MS"/>
                <a:cs typeface="Trebuchet MS"/>
              </a:rPr>
              <a:t>VerbNet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288" y="595426"/>
            <a:ext cx="1046441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123" y="2545054"/>
            <a:ext cx="9367012" cy="30640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16737" y="4313935"/>
            <a:ext cx="2133600" cy="281940"/>
          </a:xfrm>
          <a:custGeom>
            <a:avLst/>
            <a:gdLst/>
            <a:ahLst/>
            <a:cxnLst/>
            <a:rect l="l" t="t" r="r" b="b"/>
            <a:pathLst>
              <a:path w="2133600" h="281939">
                <a:moveTo>
                  <a:pt x="2133600" y="0"/>
                </a:moveTo>
                <a:lnTo>
                  <a:pt x="0" y="0"/>
                </a:lnTo>
                <a:lnTo>
                  <a:pt x="0" y="281939"/>
                </a:lnTo>
                <a:lnTo>
                  <a:pt x="2133600" y="281939"/>
                </a:lnTo>
                <a:lnTo>
                  <a:pt x="21336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04240" y="1831949"/>
            <a:ext cx="10780395" cy="1854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25">
                <a:latin typeface="Times New Roman"/>
                <a:cs typeface="Times New Roman"/>
              </a:rPr>
              <a:t>VerbNet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comprehensive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detailed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classification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English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verbs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on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syntactic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semantic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behaviors.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builds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principles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WordNet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extends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include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about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verb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argument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thematic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roles.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Here’s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detailed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overview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VerbNet: </a:t>
            </a:r>
            <a:r>
              <a:rPr dirty="0" sz="2000" b="1">
                <a:latin typeface="Times New Roman"/>
                <a:cs typeface="Times New Roman"/>
              </a:rPr>
              <a:t>What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VerbNet?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4240" y="3812794"/>
            <a:ext cx="10960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1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spc="-20" b="1">
                <a:latin typeface="Times New Roman"/>
                <a:cs typeface="Times New Roman"/>
              </a:rPr>
              <a:t>VerbNet</a:t>
            </a:r>
            <a:r>
              <a:rPr dirty="0" sz="2000" spc="-2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47570" y="3856735"/>
            <a:ext cx="9366885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60"/>
              </a:lnSpc>
            </a:pPr>
            <a:r>
              <a:rPr dirty="0" sz="2000" b="1">
                <a:latin typeface="Times New Roman"/>
                <a:cs typeface="Times New Roman"/>
              </a:rPr>
              <a:t>A</a:t>
            </a:r>
            <a:r>
              <a:rPr dirty="0" sz="2000" spc="-1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lexical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resource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that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organizes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verbs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into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classes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based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on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their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shared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syntactic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4240" y="4117822"/>
            <a:ext cx="10702925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semantic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properties</a:t>
            </a:r>
            <a:r>
              <a:rPr dirty="0" sz="2000">
                <a:latin typeface="Times New Roman"/>
                <a:cs typeface="Times New Roman"/>
              </a:rPr>
              <a:t>.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groups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together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verbs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exhibit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similar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patterns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argument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structure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verb</a:t>
            </a:r>
            <a:r>
              <a:rPr dirty="0" sz="2000" spc="-10">
                <a:latin typeface="Times New Roman"/>
                <a:cs typeface="Times New Roman"/>
              </a:rPr>
              <a:t> frames.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53974" y="-23621"/>
            <a:ext cx="10838815" cy="6610984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latin typeface="Times New Roman"/>
                <a:cs typeface="Times New Roman"/>
              </a:rPr>
              <a:t>Structure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9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VerbNet</a:t>
            </a:r>
            <a:endParaRPr sz="1800">
              <a:latin typeface="Times New Roman"/>
              <a:cs typeface="Times New Roman"/>
            </a:endParaRPr>
          </a:p>
          <a:p>
            <a:pPr marL="184785" indent="-174625">
              <a:lnSpc>
                <a:spcPct val="100000"/>
              </a:lnSpc>
              <a:spcBef>
                <a:spcPts val="1080"/>
              </a:spcBef>
              <a:buSzPct val="94444"/>
              <a:buAutoNum type="arabicPeriod"/>
              <a:tabLst>
                <a:tab pos="184785" algn="l"/>
              </a:tabLst>
            </a:pPr>
            <a:r>
              <a:rPr dirty="0" sz="1800" spc="-25" b="1">
                <a:latin typeface="Times New Roman"/>
                <a:cs typeface="Times New Roman"/>
              </a:rPr>
              <a:t>Verb</a:t>
            </a:r>
            <a:r>
              <a:rPr dirty="0" sz="1800" spc="-8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Classes</a:t>
            </a:r>
            <a:r>
              <a:rPr dirty="0"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lvl="1" marL="756285" marR="5080" indent="-287020">
              <a:lnSpc>
                <a:spcPct val="150000"/>
              </a:lnSpc>
              <a:buAutoNum type="arabicPeriod"/>
              <a:tabLst>
                <a:tab pos="756285" algn="l"/>
              </a:tabLst>
            </a:pPr>
            <a:r>
              <a:rPr dirty="0" sz="1800" spc="-35" b="1">
                <a:latin typeface="Times New Roman"/>
                <a:cs typeface="Times New Roman"/>
              </a:rPr>
              <a:t>Verb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Classes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35">
                <a:latin typeface="Times New Roman"/>
                <a:cs typeface="Times New Roman"/>
              </a:rPr>
              <a:t>Verbs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grouped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according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their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syntactic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semantic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similarities.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Each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class </a:t>
            </a:r>
            <a:r>
              <a:rPr dirty="0" sz="1800">
                <a:latin typeface="Times New Roman"/>
                <a:cs typeface="Times New Roman"/>
              </a:rPr>
              <a:t>represents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verbs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share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argument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structures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similar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syntactic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frames.</a:t>
            </a:r>
            <a:endParaRPr sz="1800">
              <a:latin typeface="Times New Roman"/>
              <a:cs typeface="Times New Roman"/>
            </a:endParaRPr>
          </a:p>
          <a:p>
            <a:pPr lvl="1" marL="756285" marR="207645" indent="-287020">
              <a:lnSpc>
                <a:spcPts val="3240"/>
              </a:lnSpc>
              <a:spcBef>
                <a:spcPts val="290"/>
              </a:spcBef>
              <a:buAutoNum type="arabicPeriod"/>
              <a:tabLst>
                <a:tab pos="756285" algn="l"/>
              </a:tabLst>
            </a:pPr>
            <a:r>
              <a:rPr dirty="0" sz="1800" b="1">
                <a:latin typeface="Times New Roman"/>
                <a:cs typeface="Times New Roman"/>
              </a:rPr>
              <a:t>Class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Entries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Each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entry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information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syntactic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semantic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properties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verbs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that </a:t>
            </a:r>
            <a:r>
              <a:rPr dirty="0" sz="1800">
                <a:latin typeface="Times New Roman"/>
                <a:cs typeface="Times New Roman"/>
              </a:rPr>
              <a:t>class,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including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argument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structure,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thematic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roles,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syntactic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frames.</a:t>
            </a:r>
            <a:endParaRPr sz="1800">
              <a:latin typeface="Times New Roman"/>
              <a:cs typeface="Times New Roman"/>
            </a:endParaRPr>
          </a:p>
          <a:p>
            <a:pPr marL="184785" indent="-174625">
              <a:lnSpc>
                <a:spcPct val="100000"/>
              </a:lnSpc>
              <a:spcBef>
                <a:spcPts val="795"/>
              </a:spcBef>
              <a:buSzPct val="94444"/>
              <a:buAutoNum type="arabicPeriod"/>
              <a:tabLst>
                <a:tab pos="184785" algn="l"/>
              </a:tabLst>
            </a:pPr>
            <a:r>
              <a:rPr dirty="0" sz="1800" b="1">
                <a:latin typeface="Times New Roman"/>
                <a:cs typeface="Times New Roman"/>
              </a:rPr>
              <a:t>Frames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Thematic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Roles</a:t>
            </a:r>
            <a:r>
              <a:rPr dirty="0"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756285" algn="l"/>
              </a:tabLst>
            </a:pPr>
            <a:r>
              <a:rPr dirty="0" sz="1800" b="1">
                <a:latin typeface="Times New Roman"/>
                <a:cs typeface="Times New Roman"/>
              </a:rPr>
              <a:t>Syntactic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Frames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possible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syntactic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constructions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verb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appear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such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transitive,</a:t>
            </a:r>
            <a:endParaRPr sz="18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intransitive,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causative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frames.</a:t>
            </a:r>
            <a:endParaRPr sz="1800">
              <a:latin typeface="Times New Roman"/>
              <a:cs typeface="Times New Roman"/>
            </a:endParaRPr>
          </a:p>
          <a:p>
            <a:pPr lvl="1" marL="756285" marR="414655" indent="-287020">
              <a:lnSpc>
                <a:spcPct val="150000"/>
              </a:lnSpc>
              <a:buAutoNum type="arabicPeriod" startAt="2"/>
              <a:tabLst>
                <a:tab pos="756285" algn="l"/>
              </a:tabLst>
            </a:pPr>
            <a:r>
              <a:rPr dirty="0" sz="1800" b="1">
                <a:latin typeface="Times New Roman"/>
                <a:cs typeface="Times New Roman"/>
              </a:rPr>
              <a:t>Thematic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Roles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roles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participants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verb’s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event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play,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such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as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Agent,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Patient,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Experiencer,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or </a:t>
            </a:r>
            <a:r>
              <a:rPr dirty="0" sz="1800" spc="-10">
                <a:latin typeface="Times New Roman"/>
                <a:cs typeface="Times New Roman"/>
              </a:rPr>
              <a:t>Goal.</a:t>
            </a:r>
            <a:endParaRPr sz="1800">
              <a:latin typeface="Times New Roman"/>
              <a:cs typeface="Times New Roman"/>
            </a:endParaRPr>
          </a:p>
          <a:p>
            <a:pPr lvl="1" marL="184785" indent="-184150">
              <a:lnSpc>
                <a:spcPct val="100000"/>
              </a:lnSpc>
              <a:spcBef>
                <a:spcPts val="1080"/>
              </a:spcBef>
              <a:buAutoNum type="arabicPeriod" startAt="2"/>
              <a:tabLst>
                <a:tab pos="184785" algn="l"/>
              </a:tabLst>
            </a:pPr>
            <a:r>
              <a:rPr dirty="0" sz="1800" b="1">
                <a:latin typeface="Times New Roman"/>
                <a:cs typeface="Times New Roman"/>
              </a:rPr>
              <a:t>Subclasses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Relations</a:t>
            </a:r>
            <a:r>
              <a:rPr dirty="0"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lvl="2" marL="755650" indent="-28575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755650" algn="l"/>
              </a:tabLst>
            </a:pPr>
            <a:r>
              <a:rPr dirty="0" sz="1800" b="1">
                <a:latin typeface="Times New Roman"/>
                <a:cs typeface="Times New Roman"/>
              </a:rPr>
              <a:t>Subclasses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35">
                <a:latin typeface="Times New Roman"/>
                <a:cs typeface="Times New Roman"/>
              </a:rPr>
              <a:t>Verb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further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divided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into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specific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subclasses,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granular</a:t>
            </a:r>
            <a:endParaRPr sz="18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latin typeface="Times New Roman"/>
                <a:cs typeface="Times New Roman"/>
              </a:rPr>
              <a:t>information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about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verb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behavior.</a:t>
            </a:r>
            <a:endParaRPr sz="1800">
              <a:latin typeface="Times New Roman"/>
              <a:cs typeface="Times New Roman"/>
            </a:endParaRPr>
          </a:p>
          <a:p>
            <a:pPr lvl="2" marL="756285" marR="308610" indent="-287020">
              <a:lnSpc>
                <a:spcPct val="150000"/>
              </a:lnSpc>
              <a:buAutoNum type="arabicPeriod" startAt="2"/>
              <a:tabLst>
                <a:tab pos="756285" algn="l"/>
              </a:tabLst>
            </a:pPr>
            <a:r>
              <a:rPr dirty="0" sz="1800" spc="-10" b="1">
                <a:latin typeface="Times New Roman"/>
                <a:cs typeface="Times New Roman"/>
              </a:rPr>
              <a:t>Hierarchical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Relationships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organized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hierarchically,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general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top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specific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below,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reflecting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how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different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verbs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relate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another.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4519" y="1437258"/>
            <a:ext cx="9495155" cy="3074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Challenges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Limitations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-9525">
              <a:lnSpc>
                <a:spcPct val="1501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b="1">
                <a:latin typeface="Times New Roman"/>
                <a:cs typeface="Times New Roman"/>
              </a:rPr>
              <a:t>Coverage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While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comprehensive,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VerbNet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cover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verbs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have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gaps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its </a:t>
            </a:r>
            <a:r>
              <a:rPr dirty="0" sz="2000">
                <a:latin typeface="Times New Roman"/>
                <a:cs typeface="Times New Roman"/>
              </a:rPr>
              <a:t>classification,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particularly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recent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less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common </a:t>
            </a:r>
            <a:r>
              <a:rPr dirty="0" sz="2000" spc="-10">
                <a:latin typeface="Times New Roman"/>
                <a:cs typeface="Times New Roman"/>
              </a:rPr>
              <a:t>verbs.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Language-Specific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VerbNet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primarily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focused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English.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Similar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other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languages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extensive,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limiting </a:t>
            </a:r>
            <a:r>
              <a:rPr dirty="0" sz="2000" spc="-10">
                <a:latin typeface="Times New Roman"/>
                <a:cs typeface="Times New Roman"/>
              </a:rPr>
              <a:t>cross-</a:t>
            </a:r>
            <a:r>
              <a:rPr dirty="0" sz="2000">
                <a:latin typeface="Times New Roman"/>
                <a:cs typeface="Times New Roman"/>
              </a:rPr>
              <a:t>linguistic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5336" y="1552447"/>
            <a:ext cx="12426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Times New Roman"/>
                <a:cs typeface="Times New Roman"/>
              </a:rPr>
              <a:t>Conclusion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8086" y="2053970"/>
            <a:ext cx="11561445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5"/>
              </a:lnSpc>
            </a:pPr>
            <a:r>
              <a:rPr dirty="0" sz="2000" spc="-20" b="1">
                <a:latin typeface="Times New Roman"/>
                <a:cs typeface="Times New Roman"/>
              </a:rPr>
              <a:t>VerbNet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valuable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resource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understanding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syntactic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semantic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properties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verbs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English.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5336" y="2314377"/>
            <a:ext cx="11553190" cy="1398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classifying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verbs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detailed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argument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thematic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roles,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30">
                <a:latin typeface="Times New Roman"/>
                <a:cs typeface="Times New Roman"/>
              </a:rPr>
              <a:t>VerbNet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supports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range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NLP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applications,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semantic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parsing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text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generation.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Despite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complexities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limitations, </a:t>
            </a:r>
            <a:r>
              <a:rPr dirty="0" sz="2000" spc="-25">
                <a:latin typeface="Times New Roman"/>
                <a:cs typeface="Times New Roman"/>
              </a:rPr>
              <a:t>VerbNet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remains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important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tool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accuracy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effectiveness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5782" rIns="0" bIns="0" rtlCol="0" vert="horz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IndoNET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3150" y="866775"/>
            <a:ext cx="7505700" cy="5124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44827" y="2375789"/>
            <a:ext cx="2242185" cy="281940"/>
          </a:xfrm>
          <a:custGeom>
            <a:avLst/>
            <a:gdLst/>
            <a:ahLst/>
            <a:cxnLst/>
            <a:rect l="l" t="t" r="r" b="b"/>
            <a:pathLst>
              <a:path w="2242185" h="281939">
                <a:moveTo>
                  <a:pt x="2241804" y="0"/>
                </a:moveTo>
                <a:lnTo>
                  <a:pt x="0" y="0"/>
                </a:lnTo>
                <a:lnTo>
                  <a:pt x="0" y="281939"/>
                </a:lnTo>
                <a:lnTo>
                  <a:pt x="2241804" y="281939"/>
                </a:lnTo>
                <a:lnTo>
                  <a:pt x="22418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95655" y="1417065"/>
            <a:ext cx="103162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1.The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IndoNet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corpus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 important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Natural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(NLP)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deals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with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23023" y="1918589"/>
            <a:ext cx="2554605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2155"/>
              </a:lnSpc>
            </a:pPr>
            <a:r>
              <a:rPr dirty="0" sz="2000" b="1">
                <a:latin typeface="Times New Roman"/>
                <a:cs typeface="Times New Roman"/>
              </a:rPr>
              <a:t>similar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WordNet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95655" y="1874266"/>
            <a:ext cx="98920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82050" algn="l"/>
              </a:tabLst>
            </a:pPr>
            <a:r>
              <a:rPr dirty="0" sz="2000">
                <a:latin typeface="Times New Roman"/>
                <a:cs typeface="Times New Roman"/>
              </a:rPr>
              <a:t>Indian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languages.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Specifically,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lexical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knowledge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base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project,but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95655" y="2179294"/>
            <a:ext cx="10420985" cy="36842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Times New Roman"/>
                <a:cs typeface="Times New Roman"/>
              </a:rPr>
              <a:t>tailored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Indian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languages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02565" indent="-193675">
              <a:lnSpc>
                <a:spcPct val="100000"/>
              </a:lnSpc>
              <a:spcBef>
                <a:spcPts val="1205"/>
              </a:spcBef>
              <a:buSzPct val="95000"/>
              <a:buAutoNum type="arabicPeriod" startAt="2"/>
              <a:tabLst>
                <a:tab pos="202565" algn="l"/>
              </a:tabLst>
            </a:pPr>
            <a:r>
              <a:rPr dirty="0" sz="2000" b="1">
                <a:latin typeface="Times New Roman"/>
                <a:cs typeface="Times New Roman"/>
              </a:rPr>
              <a:t>Key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Features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IndoNet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02565" indent="-193675">
              <a:lnSpc>
                <a:spcPct val="100000"/>
              </a:lnSpc>
              <a:spcBef>
                <a:spcPts val="1200"/>
              </a:spcBef>
              <a:buSzPct val="95000"/>
              <a:buAutoNum type="arabicPeriod" startAt="2"/>
              <a:tabLst>
                <a:tab pos="202565" algn="l"/>
              </a:tabLst>
            </a:pPr>
            <a:r>
              <a:rPr dirty="0" sz="2000" b="1">
                <a:latin typeface="Times New Roman"/>
                <a:cs typeface="Times New Roman"/>
              </a:rPr>
              <a:t>Multilingual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Lexical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Resource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755015" algn="l"/>
              </a:tabLst>
            </a:pPr>
            <a:r>
              <a:rPr dirty="0" sz="2000">
                <a:latin typeface="Times New Roman"/>
                <a:cs typeface="Times New Roman"/>
              </a:rPr>
              <a:t>IndoNet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multilingual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lexical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connects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WordNets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Indian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languages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Hindi,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Bengali,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Telugu,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Tamil,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others.</a:t>
            </a:r>
            <a:endParaRPr sz="2000">
              <a:latin typeface="Times New Roman"/>
              <a:cs typeface="Times New Roman"/>
            </a:endParaRPr>
          </a:p>
          <a:p>
            <a:pPr lvl="1" marL="755015" marR="274320" indent="-285750">
              <a:lnSpc>
                <a:spcPct val="150000"/>
              </a:lnSpc>
              <a:buAutoNum type="arabicPeriod" startAt="2"/>
              <a:tabLst>
                <a:tab pos="756285" algn="l"/>
              </a:tabLst>
            </a:pP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aims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standardize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vocabulary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concepts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providing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semantic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relationships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(synonymy,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antonymy,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hyponymy,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etc.)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similar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Princeton's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English 	WordNet.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1362" y="2245439"/>
            <a:ext cx="10616565" cy="276923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202565" indent="-198120">
              <a:lnSpc>
                <a:spcPct val="100000"/>
              </a:lnSpc>
              <a:spcBef>
                <a:spcPts val="1295"/>
              </a:spcBef>
              <a:buSzPct val="92500"/>
              <a:buFont typeface="Times New Roman"/>
              <a:buAutoNum type="arabicPeriod"/>
              <a:tabLst>
                <a:tab pos="20256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WordNet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Integration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01930" indent="-198120">
              <a:lnSpc>
                <a:spcPct val="100000"/>
              </a:lnSpc>
              <a:spcBef>
                <a:spcPts val="1200"/>
              </a:spcBef>
              <a:buSzPct val="92500"/>
              <a:buAutoNum type="arabicPeriod"/>
              <a:tabLst>
                <a:tab pos="201930" algn="l"/>
              </a:tabLst>
            </a:pPr>
            <a:r>
              <a:rPr dirty="0" sz="2000">
                <a:latin typeface="Times New Roman"/>
                <a:cs typeface="Times New Roman"/>
              </a:rPr>
              <a:t>IndoNet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integrates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WordNet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Indian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languages,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making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possible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have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cross-lingual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relations.</a:t>
            </a:r>
            <a:endParaRPr sz="2000">
              <a:latin typeface="Times New Roman"/>
              <a:cs typeface="Times New Roman"/>
            </a:endParaRPr>
          </a:p>
          <a:p>
            <a:pPr marL="12700" marR="5080" indent="-8255">
              <a:lnSpc>
                <a:spcPct val="150000"/>
              </a:lnSpc>
              <a:buSzPct val="92500"/>
              <a:buAutoNum type="arabicPeriod" startAt="3"/>
              <a:tabLst>
                <a:tab pos="202565" algn="l"/>
              </a:tabLst>
            </a:pP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lexical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unit)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 IndoNet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linked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corresponding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concept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Princeton's </a:t>
            </a:r>
            <a:r>
              <a:rPr dirty="0" sz="2000">
                <a:latin typeface="Times New Roman"/>
                <a:cs typeface="Times New Roman"/>
              </a:rPr>
              <a:t>English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WordNet,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facilitating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bilingual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multilingual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tasks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translation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cross-</a:t>
            </a:r>
            <a:r>
              <a:rPr dirty="0" sz="2000" spc="-10">
                <a:latin typeface="Times New Roman"/>
                <a:cs typeface="Times New Roman"/>
              </a:rPr>
              <a:t>lingual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retrieval.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83741" y="959103"/>
            <a:ext cx="5346700" cy="281940"/>
          </a:xfrm>
          <a:custGeom>
            <a:avLst/>
            <a:gdLst/>
            <a:ahLst/>
            <a:cxnLst/>
            <a:rect l="l" t="t" r="r" b="b"/>
            <a:pathLst>
              <a:path w="5346700" h="281940">
                <a:moveTo>
                  <a:pt x="5346192" y="0"/>
                </a:moveTo>
                <a:lnTo>
                  <a:pt x="0" y="0"/>
                </a:lnTo>
                <a:lnTo>
                  <a:pt x="0" y="281939"/>
                </a:lnTo>
                <a:lnTo>
                  <a:pt x="5346192" y="281939"/>
                </a:lnTo>
                <a:lnTo>
                  <a:pt x="534619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27354" y="457022"/>
            <a:ext cx="14763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Times New Roman"/>
                <a:cs typeface="Times New Roman"/>
              </a:rPr>
              <a:t>1.Challenges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84554" y="914781"/>
            <a:ext cx="57226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1.</a:t>
            </a:r>
            <a:r>
              <a:rPr dirty="0" sz="2000" spc="2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diversity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complexity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Indian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languages</a:t>
            </a:r>
            <a:r>
              <a:rPr dirty="0" sz="2000" spc="-10"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953377" y="959103"/>
            <a:ext cx="4137660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2155"/>
              </a:lnSpc>
            </a:pPr>
            <a:r>
              <a:rPr dirty="0" sz="2000" b="1">
                <a:latin typeface="Times New Roman"/>
                <a:cs typeface="Times New Roman"/>
              </a:rPr>
              <a:t>with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their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various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scripts,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syntax,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83741" y="1416303"/>
            <a:ext cx="3084830" cy="2819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5"/>
              </a:lnSpc>
            </a:pPr>
            <a:r>
              <a:rPr dirty="0" sz="2000" b="1">
                <a:latin typeface="Times New Roman"/>
                <a:cs typeface="Times New Roman"/>
              </a:rPr>
              <a:t>rich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morphological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systems,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556252" y="1371981"/>
            <a:ext cx="67271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make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building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IndoNet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challenging.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Nonetheless,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7354" y="1677009"/>
            <a:ext cx="10586720" cy="27698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756285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crucial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advancing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NLP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multilingual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settings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India.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 spc="-10" b="1"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IndoNet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corpus,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Hindi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</a:t>
            </a:r>
            <a:r>
              <a:rPr dirty="0" sz="2000">
                <a:latin typeface="Nirmala UI"/>
                <a:cs typeface="Nirmala UI"/>
              </a:rPr>
              <a:t>पानी</a:t>
            </a:r>
            <a:r>
              <a:rPr dirty="0" sz="2000">
                <a:latin typeface="Times New Roman"/>
                <a:cs typeface="Times New Roman"/>
              </a:rPr>
              <a:t>"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(water)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would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 linked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corresponding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Hindi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WordNet,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would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connected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corresponding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English </a:t>
            </a:r>
            <a:r>
              <a:rPr dirty="0" sz="2000" spc="-20">
                <a:latin typeface="Times New Roman"/>
                <a:cs typeface="Times New Roman"/>
              </a:rPr>
              <a:t>WordNet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("water").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Similarly,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Bengali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Tamil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WordNet,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equivalent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"water"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would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also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linked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same synset,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cross-</a:t>
            </a:r>
            <a:r>
              <a:rPr dirty="0" sz="2000">
                <a:latin typeface="Times New Roman"/>
                <a:cs typeface="Times New Roman"/>
              </a:rPr>
              <a:t>lingual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mapping.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2236" y="859383"/>
            <a:ext cx="10649585" cy="505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diversity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complexity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Indian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present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significant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challenges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development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implementation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IndoNet.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Indian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encompass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array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scripts,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as </a:t>
            </a:r>
            <a:r>
              <a:rPr dirty="0" sz="2000">
                <a:latin typeface="Times New Roman"/>
                <a:cs typeface="Times New Roman"/>
              </a:rPr>
              <a:t>Devanagari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Hindi,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Bengali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script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Bengali,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Tamil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script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Tamil,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unique </a:t>
            </a:r>
            <a:r>
              <a:rPr dirty="0" sz="2000">
                <a:latin typeface="Times New Roman"/>
                <a:cs typeface="Times New Roman"/>
              </a:rPr>
              <a:t>orthographic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phonological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features.</a:t>
            </a:r>
            <a:r>
              <a:rPr dirty="0" sz="2000" spc="-1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Additionally,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syntax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greatly,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with </a:t>
            </a:r>
            <a:r>
              <a:rPr dirty="0" sz="2000">
                <a:latin typeface="Times New Roman"/>
                <a:cs typeface="Times New Roman"/>
              </a:rPr>
              <a:t>languages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Hindi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subject-</a:t>
            </a:r>
            <a:r>
              <a:rPr dirty="0" sz="2000" spc="-10">
                <a:latin typeface="Times New Roman"/>
                <a:cs typeface="Times New Roman"/>
              </a:rPr>
              <a:t>object-</a:t>
            </a:r>
            <a:r>
              <a:rPr dirty="0" sz="2000">
                <a:latin typeface="Times New Roman"/>
                <a:cs typeface="Times New Roman"/>
              </a:rPr>
              <a:t>verb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(SOV)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English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subject-</a:t>
            </a:r>
            <a:r>
              <a:rPr dirty="0" sz="2000" spc="-10">
                <a:latin typeface="Times New Roman"/>
                <a:cs typeface="Times New Roman"/>
              </a:rPr>
              <a:t>verb-object </a:t>
            </a:r>
            <a:r>
              <a:rPr dirty="0" sz="2000">
                <a:latin typeface="Times New Roman"/>
                <a:cs typeface="Times New Roman"/>
              </a:rPr>
              <a:t>(SVO).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rich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morphological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particularly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Malayalam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Kannada,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involve </a:t>
            </a:r>
            <a:r>
              <a:rPr dirty="0" sz="2000">
                <a:latin typeface="Times New Roman"/>
                <a:cs typeface="Times New Roman"/>
              </a:rPr>
              <a:t>extensive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inflection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agglutination,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leading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large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number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forms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single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root.</a:t>
            </a:r>
            <a:endParaRPr sz="2000">
              <a:latin typeface="Times New Roman"/>
              <a:cs typeface="Times New Roman"/>
            </a:endParaRPr>
          </a:p>
          <a:p>
            <a:pPr marL="12700" marR="151765">
              <a:lnSpc>
                <a:spcPct val="150000"/>
              </a:lnSpc>
            </a:pP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example,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Hindi,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verb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go"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>
                <a:latin typeface="Nirmala UI"/>
                <a:cs typeface="Nirmala UI"/>
              </a:rPr>
              <a:t>जाना</a:t>
            </a:r>
            <a:r>
              <a:rPr dirty="0" sz="2000" spc="-65">
                <a:latin typeface="Nirmala UI"/>
                <a:cs typeface="Nirmala UI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-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jānā)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have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forms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</a:t>
            </a:r>
            <a:r>
              <a:rPr dirty="0" sz="2000">
                <a:latin typeface="Nirmala UI"/>
                <a:cs typeface="Nirmala UI"/>
              </a:rPr>
              <a:t>गया</a:t>
            </a:r>
            <a:r>
              <a:rPr dirty="0" sz="2000">
                <a:latin typeface="Times New Roman"/>
                <a:cs typeface="Times New Roman"/>
              </a:rPr>
              <a:t>"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(gayā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-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went), </a:t>
            </a:r>
            <a:r>
              <a:rPr dirty="0" sz="2000" spc="-160">
                <a:latin typeface="Times New Roman"/>
                <a:cs typeface="Times New Roman"/>
              </a:rPr>
              <a:t>"</a:t>
            </a:r>
            <a:r>
              <a:rPr dirty="0" sz="2000" spc="-160">
                <a:latin typeface="Nirmala UI"/>
                <a:cs typeface="Nirmala UI"/>
              </a:rPr>
              <a:t>जाऊँ</a:t>
            </a:r>
            <a:r>
              <a:rPr dirty="0" sz="2000" spc="100">
                <a:latin typeface="Nirmala UI"/>
                <a:cs typeface="Nirmala UI"/>
              </a:rPr>
              <a:t> </a:t>
            </a:r>
            <a:r>
              <a:rPr dirty="0" sz="2000">
                <a:latin typeface="Nirmala UI"/>
                <a:cs typeface="Nirmala UI"/>
              </a:rPr>
              <a:t>गा</a:t>
            </a:r>
            <a:r>
              <a:rPr dirty="0" sz="2000">
                <a:latin typeface="Times New Roman"/>
                <a:cs typeface="Times New Roman"/>
              </a:rPr>
              <a:t>" (jāūngā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-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go),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</a:t>
            </a:r>
            <a:r>
              <a:rPr dirty="0" sz="2000">
                <a:latin typeface="Nirmala UI"/>
                <a:cs typeface="Nirmala UI"/>
              </a:rPr>
              <a:t>जाता</a:t>
            </a:r>
            <a:r>
              <a:rPr dirty="0" sz="2000" spc="-55">
                <a:latin typeface="Nirmala UI"/>
                <a:cs typeface="Nirmala UI"/>
              </a:rPr>
              <a:t> </a:t>
            </a:r>
            <a:r>
              <a:rPr dirty="0" sz="2000">
                <a:latin typeface="Nirmala UI"/>
                <a:cs typeface="Nirmala UI"/>
              </a:rPr>
              <a:t>हँ</a:t>
            </a:r>
            <a:r>
              <a:rPr dirty="0" sz="2000">
                <a:latin typeface="Times New Roman"/>
                <a:cs typeface="Times New Roman"/>
              </a:rPr>
              <a:t>"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(jātā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hūn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-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going).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variations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multiple </a:t>
            </a:r>
            <a:r>
              <a:rPr dirty="0" sz="2000">
                <a:latin typeface="Times New Roman"/>
                <a:cs typeface="Times New Roman"/>
              </a:rPr>
              <a:t>languages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IndoNet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sophisticated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algorithms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extensive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linguistic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knowledge,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making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task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highly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challenging.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A</a:t>
            </a:r>
            <a:r>
              <a:rPr dirty="0" spc="-235"/>
              <a:t> </a:t>
            </a:r>
            <a:r>
              <a:rPr dirty="0" spc="-35" b="1">
                <a:latin typeface="Trebuchet MS"/>
                <a:cs typeface="Trebuchet MS"/>
              </a:rPr>
              <a:t>QA</a:t>
            </a:r>
            <a:r>
              <a:rPr dirty="0" spc="-220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corpus</a:t>
            </a:r>
            <a:r>
              <a:rPr dirty="0" spc="-210" b="1">
                <a:latin typeface="Trebuchet MS"/>
                <a:cs typeface="Trebuchet MS"/>
              </a:rPr>
              <a:t> </a:t>
            </a:r>
            <a:r>
              <a:rPr dirty="0" spc="-10"/>
              <a:t>(Question–Answer</a:t>
            </a:r>
            <a:r>
              <a:rPr dirty="0" spc="-210"/>
              <a:t> </a:t>
            </a:r>
            <a:r>
              <a:rPr dirty="0"/>
              <a:t>corpus)</a:t>
            </a:r>
            <a:r>
              <a:rPr dirty="0" spc="-190"/>
              <a:t> </a:t>
            </a:r>
            <a:r>
              <a:rPr dirty="0"/>
              <a:t>is</a:t>
            </a:r>
            <a:r>
              <a:rPr dirty="0" spc="-225"/>
              <a:t> </a:t>
            </a:r>
            <a:r>
              <a:rPr dirty="0"/>
              <a:t>a</a:t>
            </a:r>
            <a:r>
              <a:rPr dirty="0" spc="-204"/>
              <a:t> </a:t>
            </a:r>
            <a:r>
              <a:rPr dirty="0" spc="-25" b="1">
                <a:latin typeface="Trebuchet MS"/>
                <a:cs typeface="Trebuchet MS"/>
              </a:rPr>
              <a:t>collection</a:t>
            </a:r>
            <a:r>
              <a:rPr dirty="0" spc="-235" b="1">
                <a:latin typeface="Trebuchet MS"/>
                <a:cs typeface="Trebuchet MS"/>
              </a:rPr>
              <a:t> </a:t>
            </a:r>
            <a:r>
              <a:rPr dirty="0" spc="-60" b="1">
                <a:latin typeface="Trebuchet MS"/>
                <a:cs typeface="Trebuchet MS"/>
              </a:rPr>
              <a:t>of</a:t>
            </a:r>
            <a:r>
              <a:rPr dirty="0" spc="-235" b="1">
                <a:latin typeface="Trebuchet MS"/>
                <a:cs typeface="Trebuchet MS"/>
              </a:rPr>
              <a:t> </a:t>
            </a:r>
            <a:r>
              <a:rPr dirty="0" spc="-10" b="1">
                <a:latin typeface="Trebuchet MS"/>
                <a:cs typeface="Trebuchet MS"/>
              </a:rPr>
              <a:t>questions </a:t>
            </a:r>
            <a:r>
              <a:rPr dirty="0" b="1">
                <a:latin typeface="Trebuchet MS"/>
                <a:cs typeface="Trebuchet MS"/>
              </a:rPr>
              <a:t>and</a:t>
            </a:r>
            <a:r>
              <a:rPr dirty="0" spc="-204" b="1">
                <a:latin typeface="Trebuchet MS"/>
                <a:cs typeface="Trebuchet MS"/>
              </a:rPr>
              <a:t> </a:t>
            </a:r>
            <a:r>
              <a:rPr dirty="0" spc="-114" b="1">
                <a:latin typeface="Trebuchet MS"/>
                <a:cs typeface="Trebuchet MS"/>
              </a:rPr>
              <a:t>their</a:t>
            </a:r>
            <a:r>
              <a:rPr dirty="0" spc="-185" b="1">
                <a:latin typeface="Trebuchet MS"/>
                <a:cs typeface="Trebuchet MS"/>
              </a:rPr>
              <a:t> </a:t>
            </a:r>
            <a:r>
              <a:rPr dirty="0" spc="-30" b="1">
                <a:latin typeface="Trebuchet MS"/>
                <a:cs typeface="Trebuchet MS"/>
              </a:rPr>
              <a:t>corresponding</a:t>
            </a:r>
            <a:r>
              <a:rPr dirty="0" spc="-195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answers</a:t>
            </a:r>
            <a:r>
              <a:rPr dirty="0" spc="-150" b="1">
                <a:latin typeface="Trebuchet MS"/>
                <a:cs typeface="Trebuchet MS"/>
              </a:rPr>
              <a:t> </a:t>
            </a:r>
            <a:r>
              <a:rPr dirty="0"/>
              <a:t>used</a:t>
            </a:r>
            <a:r>
              <a:rPr dirty="0" spc="-204"/>
              <a:t> </a:t>
            </a:r>
            <a:r>
              <a:rPr dirty="0" spc="-130"/>
              <a:t>for</a:t>
            </a:r>
            <a:r>
              <a:rPr dirty="0" spc="-210"/>
              <a:t> </a:t>
            </a:r>
            <a:r>
              <a:rPr dirty="0" spc="-114"/>
              <a:t>training,</a:t>
            </a:r>
            <a:r>
              <a:rPr dirty="0" spc="-210"/>
              <a:t> </a:t>
            </a:r>
            <a:r>
              <a:rPr dirty="0" spc="-100"/>
              <a:t>testing,</a:t>
            </a:r>
            <a:r>
              <a:rPr dirty="0" spc="-215"/>
              <a:t> </a:t>
            </a:r>
            <a:r>
              <a:rPr dirty="0" spc="-25"/>
              <a:t>and </a:t>
            </a:r>
            <a:r>
              <a:rPr dirty="0" spc="-75"/>
              <a:t>evaluating</a:t>
            </a:r>
            <a:r>
              <a:rPr dirty="0" spc="-240"/>
              <a:t> </a:t>
            </a:r>
            <a:r>
              <a:rPr dirty="0" spc="-20" b="1">
                <a:latin typeface="Trebuchet MS"/>
                <a:cs typeface="Trebuchet MS"/>
              </a:rPr>
              <a:t>Question</a:t>
            </a:r>
            <a:r>
              <a:rPr dirty="0" spc="-200" b="1">
                <a:latin typeface="Trebuchet MS"/>
                <a:cs typeface="Trebuchet MS"/>
              </a:rPr>
              <a:t> </a:t>
            </a:r>
            <a:r>
              <a:rPr dirty="0" spc="-50" b="1">
                <a:latin typeface="Trebuchet MS"/>
                <a:cs typeface="Trebuchet MS"/>
              </a:rPr>
              <a:t>Answering</a:t>
            </a:r>
            <a:r>
              <a:rPr dirty="0" spc="-165" b="1">
                <a:latin typeface="Trebuchet MS"/>
                <a:cs typeface="Trebuchet MS"/>
              </a:rPr>
              <a:t> </a:t>
            </a:r>
            <a:r>
              <a:rPr dirty="0" spc="-125" b="1">
                <a:latin typeface="Trebuchet MS"/>
                <a:cs typeface="Trebuchet MS"/>
              </a:rPr>
              <a:t>(QA)</a:t>
            </a:r>
            <a:r>
              <a:rPr dirty="0" spc="-210" b="1">
                <a:latin typeface="Trebuchet MS"/>
                <a:cs typeface="Trebuchet MS"/>
              </a:rPr>
              <a:t> </a:t>
            </a:r>
            <a:r>
              <a:rPr dirty="0" spc="45" b="1">
                <a:latin typeface="Trebuchet MS"/>
                <a:cs typeface="Trebuchet MS"/>
              </a:rPr>
              <a:t>systems</a:t>
            </a:r>
            <a:r>
              <a:rPr dirty="0" spc="-170" b="1">
                <a:latin typeface="Trebuchet MS"/>
                <a:cs typeface="Trebuchet MS"/>
              </a:rPr>
              <a:t> </a:t>
            </a:r>
            <a:r>
              <a:rPr dirty="0" spc="-70"/>
              <a:t>in</a:t>
            </a:r>
            <a:r>
              <a:rPr dirty="0" spc="-235"/>
              <a:t> </a:t>
            </a:r>
            <a:r>
              <a:rPr dirty="0" spc="-60"/>
              <a:t>Natural</a:t>
            </a:r>
            <a:r>
              <a:rPr dirty="0" spc="-240"/>
              <a:t> </a:t>
            </a:r>
            <a:r>
              <a:rPr dirty="0" spc="-10"/>
              <a:t>Language </a:t>
            </a:r>
            <a:r>
              <a:rPr dirty="0"/>
              <a:t>Processing</a:t>
            </a:r>
            <a:r>
              <a:rPr dirty="0" spc="-155"/>
              <a:t> </a:t>
            </a:r>
            <a:r>
              <a:rPr dirty="0" spc="-10"/>
              <a:t>(NLP).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9471" y="699592"/>
            <a:ext cx="218440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 b="1">
                <a:latin typeface="Trebuchet MS"/>
                <a:cs typeface="Trebuchet MS"/>
              </a:rPr>
              <a:t>QA</a:t>
            </a:r>
            <a:r>
              <a:rPr dirty="0" sz="3600" spc="-335" b="1">
                <a:latin typeface="Trebuchet MS"/>
                <a:cs typeface="Trebuchet MS"/>
              </a:rPr>
              <a:t> </a:t>
            </a:r>
            <a:r>
              <a:rPr dirty="0" sz="3600" spc="-10" b="1">
                <a:latin typeface="Trebuchet MS"/>
                <a:cs typeface="Trebuchet MS"/>
              </a:rPr>
              <a:t>corpus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6224" y="1864232"/>
            <a:ext cx="9530080" cy="276923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 b="1">
                <a:latin typeface="Times New Roman"/>
                <a:cs typeface="Times New Roman"/>
              </a:rPr>
              <a:t>What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QA</a:t>
            </a:r>
            <a:r>
              <a:rPr dirty="0" sz="2400" spc="-15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Corpus?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structured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dataset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contains:</a:t>
            </a:r>
            <a:endParaRPr sz="24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400" b="1">
                <a:latin typeface="Times New Roman"/>
                <a:cs typeface="Times New Roman"/>
              </a:rPr>
              <a:t>Questions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(factoid,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descriptive,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yes/no,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multiple-</a:t>
            </a:r>
            <a:r>
              <a:rPr dirty="0" sz="2400">
                <a:latin typeface="Times New Roman"/>
                <a:cs typeface="Times New Roman"/>
              </a:rPr>
              <a:t>choice,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etc.)</a:t>
            </a:r>
            <a:endParaRPr sz="24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400" b="1">
                <a:latin typeface="Times New Roman"/>
                <a:cs typeface="Times New Roman"/>
              </a:rPr>
              <a:t>Answers </a:t>
            </a:r>
            <a:r>
              <a:rPr dirty="0" sz="2400">
                <a:latin typeface="Times New Roman"/>
                <a:cs typeface="Times New Roman"/>
              </a:rPr>
              <a:t>(short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spans,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text,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knowledge-base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entries,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etc.)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Helps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training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models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understand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queries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correct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answers.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2731" y="239394"/>
            <a:ext cx="8079740" cy="606171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 spc="-20" b="1">
                <a:latin typeface="Times New Roman"/>
                <a:cs typeface="Times New Roman"/>
              </a:rPr>
              <a:t>Types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QA</a:t>
            </a:r>
            <a:r>
              <a:rPr dirty="0" sz="2400" spc="-15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Corpus</a:t>
            </a:r>
            <a:endParaRPr sz="2400">
              <a:latin typeface="Times New Roman"/>
              <a:cs typeface="Times New Roman"/>
            </a:endParaRPr>
          </a:p>
          <a:p>
            <a:pPr marL="241300" indent="-231775">
              <a:lnSpc>
                <a:spcPct val="100000"/>
              </a:lnSpc>
              <a:spcBef>
                <a:spcPts val="1440"/>
              </a:spcBef>
              <a:buSzPct val="95833"/>
              <a:buAutoNum type="arabicPeriod"/>
              <a:tabLst>
                <a:tab pos="241300" algn="l"/>
              </a:tabLst>
            </a:pPr>
            <a:r>
              <a:rPr dirty="0" sz="2400" b="1">
                <a:latin typeface="Times New Roman"/>
                <a:cs typeface="Times New Roman"/>
              </a:rPr>
              <a:t>Factoid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QA</a:t>
            </a:r>
            <a:r>
              <a:rPr dirty="0" sz="2400" spc="-1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Corpus</a:t>
            </a:r>
            <a:endParaRPr sz="24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756285" algn="l"/>
              </a:tabLst>
            </a:pPr>
            <a:r>
              <a:rPr dirty="0" sz="2400">
                <a:latin typeface="Times New Roman"/>
                <a:cs typeface="Times New Roman"/>
              </a:rPr>
              <a:t>Contains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short,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factual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questions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(who,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what,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when,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where).</a:t>
            </a:r>
            <a:endParaRPr sz="24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756285" algn="l"/>
              </a:tabLst>
            </a:pPr>
            <a:r>
              <a:rPr dirty="0" sz="2400" spc="-10">
                <a:latin typeface="Times New Roman"/>
                <a:cs typeface="Times New Roman"/>
              </a:rPr>
              <a:t>Example:</a:t>
            </a:r>
            <a:endParaRPr sz="24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Times New Roman"/>
                <a:cs typeface="Times New Roman"/>
              </a:rPr>
              <a:t>Q: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Who</a:t>
            </a:r>
            <a:r>
              <a:rPr dirty="0" sz="2400" spc="-15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is</a:t>
            </a:r>
            <a:r>
              <a:rPr dirty="0" sz="2400" spc="-25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the</a:t>
            </a:r>
            <a:r>
              <a:rPr dirty="0" sz="2400" spc="-15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Prime</a:t>
            </a:r>
            <a:r>
              <a:rPr dirty="0" sz="2400" spc="-3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Minister</a:t>
            </a:r>
            <a:r>
              <a:rPr dirty="0" sz="2400" spc="-5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of</a:t>
            </a:r>
            <a:r>
              <a:rPr dirty="0" sz="2400" spc="-15" i="1">
                <a:latin typeface="Times New Roman"/>
                <a:cs typeface="Times New Roman"/>
              </a:rPr>
              <a:t> </a:t>
            </a:r>
            <a:r>
              <a:rPr dirty="0" sz="2400" spc="-10" i="1">
                <a:latin typeface="Times New Roman"/>
                <a:cs typeface="Times New Roman"/>
              </a:rPr>
              <a:t>India?</a:t>
            </a:r>
            <a:endParaRPr sz="24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445"/>
              </a:spcBef>
            </a:pPr>
            <a:r>
              <a:rPr dirty="0" sz="2400">
                <a:latin typeface="Times New Roman"/>
                <a:cs typeface="Times New Roman"/>
              </a:rPr>
              <a:t>A: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 i="1">
                <a:latin typeface="Times New Roman"/>
                <a:cs typeface="Times New Roman"/>
              </a:rPr>
              <a:t>Narendra</a:t>
            </a:r>
            <a:r>
              <a:rPr dirty="0" sz="2400" spc="-55" i="1">
                <a:latin typeface="Times New Roman"/>
                <a:cs typeface="Times New Roman"/>
              </a:rPr>
              <a:t> </a:t>
            </a:r>
            <a:r>
              <a:rPr dirty="0" sz="2400" spc="-20" i="1">
                <a:latin typeface="Times New Roman"/>
                <a:cs typeface="Times New Roman"/>
              </a:rPr>
              <a:t>Modi</a:t>
            </a:r>
            <a:endParaRPr sz="2400">
              <a:latin typeface="Times New Roman"/>
              <a:cs typeface="Times New Roman"/>
            </a:endParaRPr>
          </a:p>
          <a:p>
            <a:pPr marL="241300" indent="-231775">
              <a:lnSpc>
                <a:spcPct val="100000"/>
              </a:lnSpc>
              <a:spcBef>
                <a:spcPts val="1440"/>
              </a:spcBef>
              <a:buSzPct val="95833"/>
              <a:buAutoNum type="arabicPeriod" startAt="2"/>
              <a:tabLst>
                <a:tab pos="241300" algn="l"/>
              </a:tabLst>
            </a:pPr>
            <a:r>
              <a:rPr dirty="0" sz="2400" spc="-35" b="1">
                <a:latin typeface="Times New Roman"/>
                <a:cs typeface="Times New Roman"/>
              </a:rPr>
              <a:t>Yes/No</a:t>
            </a:r>
            <a:r>
              <a:rPr dirty="0" sz="2400" spc="-10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QA</a:t>
            </a:r>
            <a:r>
              <a:rPr dirty="0" sz="2400" spc="-15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Corpus</a:t>
            </a:r>
            <a:endParaRPr sz="24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756285" algn="l"/>
              </a:tabLst>
            </a:pPr>
            <a:r>
              <a:rPr dirty="0" sz="2400">
                <a:latin typeface="Times New Roman"/>
                <a:cs typeface="Times New Roman"/>
              </a:rPr>
              <a:t>Questions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binary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answers.</a:t>
            </a:r>
            <a:endParaRPr sz="24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756285" algn="l"/>
              </a:tabLst>
            </a:pPr>
            <a:r>
              <a:rPr dirty="0" sz="2400" spc="-10">
                <a:latin typeface="Times New Roman"/>
                <a:cs typeface="Times New Roman"/>
              </a:rPr>
              <a:t>Example:</a:t>
            </a:r>
            <a:endParaRPr sz="24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Times New Roman"/>
                <a:cs typeface="Times New Roman"/>
              </a:rPr>
              <a:t>Q: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Is</a:t>
            </a:r>
            <a:r>
              <a:rPr dirty="0" sz="2400" spc="-1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water</a:t>
            </a:r>
            <a:r>
              <a:rPr dirty="0" sz="2400" spc="-2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a</a:t>
            </a:r>
            <a:r>
              <a:rPr dirty="0" sz="2400" spc="-10" i="1">
                <a:latin typeface="Times New Roman"/>
                <a:cs typeface="Times New Roman"/>
              </a:rPr>
              <a:t> compound?</a:t>
            </a:r>
            <a:endParaRPr sz="24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Times New Roman"/>
                <a:cs typeface="Times New Roman"/>
              </a:rPr>
              <a:t>A: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5" i="1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5525" y="578205"/>
            <a:ext cx="5817235" cy="45986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1300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List </a:t>
            </a:r>
            <a:r>
              <a:rPr dirty="0" sz="2000" spc="-10" b="1">
                <a:latin typeface="Times New Roman"/>
                <a:cs typeface="Times New Roman"/>
              </a:rPr>
              <a:t>QA</a:t>
            </a:r>
            <a:r>
              <a:rPr dirty="0" sz="2000" spc="-1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Corpus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5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>
                <a:latin typeface="Times New Roman"/>
                <a:cs typeface="Times New Roman"/>
              </a:rPr>
              <a:t>Answers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lists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items.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 spc="-10"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Q: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Name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programming</a:t>
            </a:r>
            <a:r>
              <a:rPr dirty="0" sz="2000" spc="-6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languages</a:t>
            </a:r>
            <a:r>
              <a:rPr dirty="0" sz="2000" spc="-7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starting</a:t>
            </a:r>
            <a:r>
              <a:rPr dirty="0" sz="2000" spc="-6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with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spc="-25" i="1">
                <a:latin typeface="Times New Roman"/>
                <a:cs typeface="Times New Roman"/>
              </a:rPr>
              <a:t>P.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A: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Python,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spc="-60" i="1">
                <a:latin typeface="Times New Roman"/>
                <a:cs typeface="Times New Roman"/>
              </a:rPr>
              <a:t>PHP,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spc="-20" i="1">
                <a:latin typeface="Times New Roman"/>
                <a:cs typeface="Times New Roman"/>
              </a:rPr>
              <a:t>Perl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dirty="0" sz="2000" b="1">
                <a:latin typeface="Times New Roman"/>
                <a:cs typeface="Times New Roman"/>
              </a:rPr>
              <a:t>Descriptive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(Non-factoid)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QA</a:t>
            </a:r>
            <a:r>
              <a:rPr dirty="0" sz="2000" spc="-1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Corpus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>
                <a:latin typeface="Times New Roman"/>
                <a:cs typeface="Times New Roman"/>
              </a:rPr>
              <a:t>Requires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long,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explanatory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answers.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 spc="-10"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imes New Roman"/>
                <a:cs typeface="Times New Roman"/>
              </a:rPr>
              <a:t>Q: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Explain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the</a:t>
            </a:r>
            <a:r>
              <a:rPr dirty="0" sz="2000" spc="-4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process</a:t>
            </a:r>
            <a:r>
              <a:rPr dirty="0" sz="2000" spc="-5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of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photosynthesis.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A: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Photosynthesis</a:t>
            </a:r>
            <a:r>
              <a:rPr dirty="0" sz="2000" spc="-7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is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the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process</a:t>
            </a:r>
            <a:r>
              <a:rPr dirty="0" sz="2000" spc="-5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by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which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green</a:t>
            </a:r>
            <a:r>
              <a:rPr dirty="0" sz="2000" spc="-45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plants…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14552" y="1183995"/>
            <a:ext cx="8312784" cy="41408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1300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dirty="0" sz="2000">
                <a:latin typeface="Times New Roman"/>
                <a:cs typeface="Times New Roman"/>
              </a:rPr>
              <a:t>Reading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Comprehension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QA</a:t>
            </a:r>
            <a:r>
              <a:rPr dirty="0" sz="2000" spc="-1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Corpus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passage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given;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answers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extracted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>
                <a:latin typeface="Times New Roman"/>
                <a:cs typeface="Times New Roman"/>
              </a:rPr>
              <a:t>Example: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SQuAD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dataset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>
                <a:latin typeface="Times New Roman"/>
                <a:cs typeface="Times New Roman"/>
              </a:rPr>
              <a:t>Knowledge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QA</a:t>
            </a:r>
            <a:r>
              <a:rPr dirty="0" sz="2000" spc="-1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Corpus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>
                <a:latin typeface="Times New Roman"/>
                <a:cs typeface="Times New Roman"/>
              </a:rPr>
              <a:t>Questions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answered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knowledge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(like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Wikidata,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Freebase).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>
                <a:latin typeface="Times New Roman"/>
                <a:cs typeface="Times New Roman"/>
              </a:rPr>
              <a:t>Example: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WebQuestions,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SimpleQuestions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>
                <a:latin typeface="Times New Roman"/>
                <a:cs typeface="Times New Roman"/>
              </a:rPr>
              <a:t>Community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QA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Corpus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forums/Q&amp;A</a:t>
            </a:r>
            <a:r>
              <a:rPr dirty="0" sz="2000" spc="-1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websites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Quora,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StackOverflow.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100330" algn="l"/>
              </a:tabLst>
            </a:pPr>
            <a:r>
              <a:rPr dirty="0" sz="2000">
                <a:latin typeface="Times New Roman"/>
                <a:cs typeface="Times New Roman"/>
              </a:rPr>
              <a:t>Example: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Quora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Question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Pairs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dataset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2581" y="2370835"/>
            <a:ext cx="9860280" cy="276923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 b="1">
                <a:latin typeface="Times New Roman"/>
                <a:cs typeface="Times New Roman"/>
              </a:rPr>
              <a:t>Applications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QA</a:t>
            </a:r>
            <a:r>
              <a:rPr dirty="0" sz="2400" spc="-1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Corpus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Training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chatbots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virtual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assistants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(like</a:t>
            </a:r>
            <a:r>
              <a:rPr dirty="0" sz="2400" spc="-1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Alexa,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Siri,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ChatGPT).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Evaluating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question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answering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systems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Improving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machine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reading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comprehension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Building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domain-</a:t>
            </a:r>
            <a:r>
              <a:rPr dirty="0" sz="2400" b="1">
                <a:latin typeface="Times New Roman"/>
                <a:cs typeface="Times New Roman"/>
              </a:rPr>
              <a:t>specific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QA</a:t>
            </a:r>
            <a:r>
              <a:rPr dirty="0" sz="2400" spc="-1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systems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(medical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QA,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legal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QA,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education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QA).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0" y="2480309"/>
            <a:ext cx="270129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dirty="0" spc="-185"/>
              <a:t> </a:t>
            </a:r>
            <a:r>
              <a:rPr dirty="0" spc="-15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Sarla Pareek</dc:creator>
  <dcterms:created xsi:type="dcterms:W3CDTF">2026-02-13T09:10:30Z</dcterms:created>
  <dcterms:modified xsi:type="dcterms:W3CDTF">2026-02-13T09:10:30Z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2026-02-13T00:00:00Z</vt:filetime>
  </property>
  <property fmtid="{D5CDD505-2E9C-101B-9397-08002B2CF9AE}" pid="5" name="Producer">
    <vt:lpwstr>Microsoft® PowerPoint® for Microsoft 365</vt:lpwstr>
  </property>
</Properties>
</file>